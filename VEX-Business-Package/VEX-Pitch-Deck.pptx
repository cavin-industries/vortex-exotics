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solidFill>
                  <a:srgbClr val="F0EEF8"/>
                </a:solidFill>
                <a:latin typeface="Segoe UI"/>
              </a:defRPr>
            </a:pP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A78BFA"/>
            </a:solidFill>
          </c:spPr>
          <c:dLbls>
            <c:numFmt formatCode="&quot;$&quot;#,##0&quot;B&quot;" sourceLinked="0"/>
            <c:txPr>
              <a:bodyPr/>
              <a:lstStyle/>
              <a:p>
                <a:pPr>
                  <a:defRPr sz="1200" b="1">
                    <a:solidFill>
                      <a:srgbClr val="EBF1FF"/>
                    </a:solidFill>
                    <a:latin typeface="Liberation San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TAM</c:v>
                </c:pt>
                <c:pt idx="1">
                  <c:v>SAM</c:v>
                </c:pt>
                <c:pt idx="2">
                  <c:v>SOM (5Y)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302</c:v>
                </c:pt>
                <c:pt idx="1">
                  <c:v>48</c:v>
                </c:pt>
                <c:pt idx="2">
                  <c:v>13.5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38385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A8A4BC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>
                <a:solidFill>
                  <a:srgbClr val="F0EEF8"/>
                </a:solidFill>
                <a:latin typeface="Segoe UI"/>
              </a:defRPr>
            </a:pPr>
          </a:p>
        </c:rich>
      </c:tx>
      <c:layout/>
      <c:overlay val="0"/>
    </c:title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rgbClr val="A78BFA"/>
            </a:solidFill>
          </c:spPr>
          <c:dPt>
            <c:idx val="0"/>
            <c:spPr>
              <a:solidFill>
                <a:srgbClr val="E8B963"/>
              </a:solidFill>
            </c:spPr>
          </c:dPt>
          <c:dPt>
            <c:idx val="1"/>
            <c:spPr>
              <a:solidFill>
                <a:srgbClr val="6AD3B2"/>
              </a:solidFill>
            </c:spPr>
          </c:dPt>
          <c:dPt>
            <c:idx val="2"/>
            <c:spPr>
              <a:solidFill>
                <a:srgbClr val="F29B5D"/>
              </a:solidFill>
            </c:spPr>
          </c:dPt>
          <c:cat>
            <c:strRef>
              <c:f>Sheet1!$A$2:$A$4</c:f>
              <c:strCache>
                <c:ptCount val="3"/>
                <c:pt idx="0">
                  <c:v>Subscriptions 68%</c:v>
                </c:pt>
                <c:pt idx="1">
                  <c:v>Marketplace 28%</c:v>
                </c:pt>
                <c:pt idx="2">
                  <c:v>AI + Partners 4%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</c:v>
                </c:pt>
                <c:pt idx="1">
                  <c:v>28</c:v>
                </c:pt>
                <c:pt idx="2">
                  <c:v>4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1000">
              <a:solidFill>
                <a:srgbClr val="F0EEF8"/>
              </a:solidFill>
              <a:latin typeface="Segoe UI"/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A8A4BC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solidFill>
                  <a:srgbClr val="F0EEF8"/>
                </a:solidFill>
                <a:latin typeface="Segoe UI"/>
              </a:defRPr>
            </a:pP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A78BFA"/>
            </a:solidFill>
          </c:spPr>
          <c:dLbls>
            <c:numFmt formatCode="&quot;$&quot;#,##0&quot;M&quot;" sourceLinked="0"/>
            <c:txPr>
              <a:bodyPr/>
              <a:lstStyle/>
              <a:p>
                <a:pPr>
                  <a:defRPr sz="1000" b="1">
                    <a:solidFill>
                      <a:srgbClr val="EBF1FF"/>
                    </a:solidFill>
                    <a:latin typeface="Liberation San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9.8</c:v>
                </c:pt>
                <c:pt idx="1">
                  <c:v>50</c:v>
                </c:pt>
                <c:pt idx="2">
                  <c:v>380</c:v>
                </c:pt>
                <c:pt idx="3">
                  <c:v>900</c:v>
                </c:pt>
                <c:pt idx="4">
                  <c:v>1450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38385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A8A4BC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>
                <a:solidFill>
                  <a:srgbClr val="F0EEF8"/>
                </a:solidFill>
                <a:latin typeface="Segoe UI"/>
              </a:defRPr>
            </a:pPr>
          </a:p>
        </c:rich>
      </c:tx>
      <c:layout/>
      <c:overlay val="0"/>
    </c:title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rgbClr val="A78BFA"/>
            </a:solidFill>
          </c:spPr>
          <c:dPt>
            <c:idx val="0"/>
            <c:spPr>
              <a:solidFill>
                <a:srgbClr val="69A9FF"/>
              </a:solidFill>
            </c:spPr>
          </c:dPt>
          <c:dPt>
            <c:idx val="1"/>
            <c:spPr>
              <a:solidFill>
                <a:srgbClr val="E8B963"/>
              </a:solidFill>
            </c:spPr>
          </c:dPt>
          <c:dPt>
            <c:idx val="2"/>
            <c:spPr>
              <a:solidFill>
                <a:srgbClr val="6AD3B2"/>
              </a:solidFill>
            </c:spPr>
          </c:dPt>
          <c:dPt>
            <c:idx val="3"/>
            <c:spPr>
              <a:solidFill>
                <a:srgbClr val="A7B6CC"/>
              </a:solidFill>
            </c:spPr>
          </c:dPt>
          <c:cat>
            <c:strRef>
              <c:f>Sheet1!$A$2:$A$5</c:f>
              <c:strCache>
                <c:ptCount val="4"/>
                <c:pt idx="0">
                  <c:v>Product &amp; Eng (45%)</c:v>
                </c:pt>
                <c:pt idx="1">
                  <c:v>GTM &amp; Sales (30%)</c:v>
                </c:pt>
                <c:pt idx="2">
                  <c:v>Operations (15%)</c:v>
                </c:pt>
                <c:pt idx="3">
                  <c:v>Reserve (10%)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1000">
              <a:solidFill>
                <a:srgbClr val="F0EEF8"/>
              </a:solidFill>
              <a:latin typeface="Segoe UI"/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A8A4BC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solidFill>
                  <a:srgbClr val="F0EEF8"/>
                </a:solidFill>
                <a:latin typeface="Segoe UI"/>
              </a:defRPr>
            </a:pPr>
          </a:p>
        </c:rich>
      </c:tx>
      <c:layout/>
      <c:overlay val="0"/>
    </c:title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A78BFA"/>
            </a:solidFill>
            <a:ln w="38100">
              <a:solidFill>
                <a:srgbClr val="E8B963"/>
              </a:solidFill>
            </a:ln>
          </c:spPr>
          <c:dLbls>
            <c:numFmt formatCode="&quot;$&quot;#,##0&quot;M&quot;" sourceLinked="0"/>
            <c:txPr>
              <a:bodyPr/>
              <a:lstStyle/>
              <a:p>
                <a:pPr>
                  <a:defRPr sz="900" b="1">
                    <a:solidFill>
                      <a:srgbClr val="E8B963"/>
                    </a:solidFill>
                    <a:latin typeface="Liberatio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Launch</c:v>
                </c:pt>
                <c:pt idx="1">
                  <c:v>Traction</c:v>
                </c:pt>
                <c:pt idx="2">
                  <c:v>Scale</c:v>
                </c:pt>
                <c:pt idx="3">
                  <c:v>Growth</c:v>
                </c:pt>
                <c:pt idx="4">
                  <c:v>Dominance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9.8</c:v>
                </c:pt>
                <c:pt idx="2">
                  <c:v>50</c:v>
                </c:pt>
                <c:pt idx="3">
                  <c:v>380</c:v>
                </c:pt>
                <c:pt idx="4">
                  <c:v>1450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38385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A8A4BC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solidFill>
                  <a:srgbClr val="F0EEF8"/>
                </a:solidFill>
                <a:latin typeface="Segoe UI"/>
              </a:defRPr>
            </a:pP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 / mo</c:v>
                </c:pt>
              </c:strCache>
            </c:strRef>
          </c:tx>
          <c:spPr>
            <a:solidFill>
              <a:srgbClr val="A78BFA"/>
            </a:solidFill>
          </c:spPr>
          <c:cat>
            <c:strRef>
              <c:f>Sheet1!$A$2:$A$4</c:f>
              <c:strCache>
                <c:ptCount val="3"/>
                <c:pt idx="0">
                  <c:v>Starter</c:v>
                </c:pt>
                <c:pt idx="1">
                  <c:v>Pro</c:v>
                </c:pt>
                <c:pt idx="2">
                  <c:v>Enterprise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</c:v>
                </c:pt>
                <c:pt idx="1">
                  <c:v>149</c:v>
                </c:pt>
                <c:pt idx="2">
                  <c:v>299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38385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A8A4BC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solidFill>
                  <a:srgbClr val="F0EEF8"/>
                </a:solidFill>
                <a:latin typeface="Segoe UI"/>
              </a:defRPr>
            </a:pP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 / yr</c:v>
                </c:pt>
              </c:strCache>
            </c:strRef>
          </c:tx>
          <c:spPr>
            <a:solidFill>
              <a:srgbClr val="A78BFA"/>
            </a:solidFill>
          </c:spPr>
          <c:cat>
            <c:strRef>
              <c:f>Sheet1!$A$2:$A$4</c:f>
              <c:strCache>
                <c:ptCount val="3"/>
                <c:pt idx="0">
                  <c:v>Starter</c:v>
                </c:pt>
                <c:pt idx="1">
                  <c:v>Pro</c:v>
                </c:pt>
                <c:pt idx="2">
                  <c:v>Enterprise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470</c:v>
                </c:pt>
                <c:pt idx="1">
                  <c:v>1430</c:v>
                </c:pt>
                <c:pt idx="2">
                  <c:v>2870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38385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A8A4BC"/>
          </a:solidFill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solidFill>
                  <a:srgbClr val="F0EEF8"/>
                </a:solidFill>
                <a:latin typeface="Segoe UI"/>
              </a:defRPr>
            </a:pP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12 × monthly list</c:v>
                </c:pt>
              </c:strCache>
            </c:strRef>
          </c:tx>
          <c:spPr>
            <a:solidFill>
              <a:srgbClr val="A78BFA"/>
            </a:solidFill>
          </c:spPr>
          <c:cat>
            <c:strRef>
              <c:f>Sheet1!$A$2:$A$4</c:f>
              <c:strCache>
                <c:ptCount val="3"/>
                <c:pt idx="0">
                  <c:v>Starter</c:v>
                </c:pt>
                <c:pt idx="1">
                  <c:v>Pro</c:v>
                </c:pt>
                <c:pt idx="2">
                  <c:v>Enterprise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588</c:v>
                </c:pt>
                <c:pt idx="1">
                  <c:v>1788</c:v>
                </c:pt>
                <c:pt idx="2">
                  <c:v>3588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Yearly list</c:v>
                </c:pt>
              </c:strCache>
            </c:strRef>
          </c:tx>
          <c:spPr>
            <a:solidFill>
              <a:srgbClr val="E8C547"/>
            </a:solidFill>
          </c:spPr>
          <c:cat>
            <c:strRef>
              <c:f>Sheet1!$A$2:$A$4</c:f>
              <c:strCache>
                <c:ptCount val="3"/>
                <c:pt idx="0">
                  <c:v>Starter</c:v>
                </c:pt>
                <c:pt idx="1">
                  <c:v>Pro</c:v>
                </c:pt>
                <c:pt idx="2">
                  <c:v>Enterprise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470</c:v>
                </c:pt>
                <c:pt idx="1">
                  <c:v>1430</c:v>
                </c:pt>
                <c:pt idx="2">
                  <c:v>2870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38385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A8A4BC"/>
          </a:solidFill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solidFill>
                  <a:srgbClr val="F0EEF8"/>
                </a:solidFill>
                <a:latin typeface="Segoe UI"/>
              </a:defRPr>
            </a:pP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Bear</c:v>
                </c:pt>
              </c:strCache>
            </c:strRef>
          </c:tx>
          <c:spPr>
            <a:solidFill>
              <a:srgbClr val="A78BFA"/>
            </a:solidFill>
          </c:spPr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0.42</c:v>
                </c:pt>
                <c:pt idx="1">
                  <c:v>1.35</c:v>
                </c:pt>
                <c:pt idx="2">
                  <c:v>3.12</c:v>
                </c:pt>
                <c:pt idx="3">
                  <c:v>5.72</c:v>
                </c:pt>
                <c:pt idx="4">
                  <c:v>9.45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E8C547"/>
            </a:solidFill>
          </c:spPr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</c:v>
                </c:pt>
                <c:pt idx="1">
                  <c:v>1.67</c:v>
                </c:pt>
                <c:pt idx="2">
                  <c:v>3.57</c:v>
                </c:pt>
                <c:pt idx="3">
                  <c:v>6.12</c:v>
                </c:pt>
                <c:pt idx="4">
                  <c:v>12.5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Bull</c:v>
                </c:pt>
              </c:strCache>
            </c:strRef>
          </c:tx>
          <c:spPr>
            <a:solidFill>
              <a:srgbClr val="5ED4E0"/>
            </a:solidFill>
          </c:spPr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0.55</c:v>
                </c:pt>
                <c:pt idx="1">
                  <c:v>1.84</c:v>
                </c:pt>
                <c:pt idx="2">
                  <c:v>3.94</c:v>
                </c:pt>
                <c:pt idx="3">
                  <c:v>6.74</c:v>
                </c:pt>
                <c:pt idx="4">
                  <c:v>13.77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38385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F0EEF8"/>
              </a:solidFill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A8A4BC"/>
          </a:solidFill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solidFill>
                  <a:srgbClr val="F0EEF8"/>
                </a:solidFill>
                <a:latin typeface="Segoe UI"/>
              </a:defRPr>
            </a:pP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ARR $M</c:v>
                </c:pt>
              </c:strCache>
            </c:strRef>
          </c:tx>
          <c:spPr>
            <a:solidFill>
              <a:srgbClr val="A78BFA"/>
            </a:solidFill>
          </c:spPr>
          <c:cat>
            <c:strRef>
              <c:f>Sheet1!$A$2:$A$4</c:f>
              <c:strCache>
                <c:ptCount val="3"/>
                <c:pt idx="0">
                  <c:v>Bear</c:v>
                </c:pt>
                <c:pt idx="1">
                  <c:v>Base</c:v>
                </c:pt>
                <c:pt idx="2">
                  <c:v>Bull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9.45</c:v>
                </c:pt>
                <c:pt idx="1">
                  <c:v>12.5</c:v>
                </c:pt>
                <c:pt idx="2">
                  <c:v>13.77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38385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A8A4BC"/>
          </a:solidFill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>
                <a:solidFill>
                  <a:srgbClr val="F0EEF8"/>
                </a:solidFill>
                <a:latin typeface="Segoe UI"/>
              </a:defRPr>
            </a:pP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 %</c:v>
                </c:pt>
              </c:strCache>
            </c:strRef>
          </c:tx>
          <c:spPr>
            <a:solidFill>
              <a:srgbClr val="A78BFA"/>
            </a:solidFill>
          </c:spPr>
          <c:cat>
            <c:strRef>
              <c:f>Sheet1!$A$2:$A$5</c:f>
              <c:strCache>
                <c:ptCount val="4"/>
                <c:pt idx="0">
                  <c:v>Subscription
(Starter/Pro)</c:v>
                </c:pt>
                <c:pt idx="1">
                  <c:v>Enterprise tier</c:v>
                </c:pt>
                <c:pt idx="2">
                  <c:v>Success / transaction</c:v>
                </c:pt>
                <c:pt idx="3">
                  <c:v>Add-ons / services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18</c:v>
                </c:pt>
                <c:pt idx="2">
                  <c:v>12</c:v>
                </c:pt>
                <c:pt idx="3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100">
          <a:solidFill>
            <a:srgbClr val="A8A4BC"/>
          </a:solidFill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solidFill>
                  <a:srgbClr val="F0EEF8"/>
                </a:solidFill>
                <a:latin typeface="Segoe UI"/>
              </a:defRPr>
            </a:pP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 + Ultra</c:v>
                </c:pt>
              </c:strCache>
            </c:strRef>
          </c:tx>
          <c:spPr>
            <a:solidFill>
              <a:srgbClr val="A78BFA"/>
            </a:solidFill>
          </c:spPr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0.32</c:v>
                </c:pt>
                <c:pt idx="1">
                  <c:v>0.99</c:v>
                </c:pt>
                <c:pt idx="2">
                  <c:v>1.98</c:v>
                </c:pt>
                <c:pt idx="3">
                  <c:v>3.15</c:v>
                </c:pt>
                <c:pt idx="4">
                  <c:v>4.37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Success fees (ann.)</c:v>
                </c:pt>
              </c:strCache>
            </c:strRef>
          </c:tx>
          <c:spPr>
            <a:solidFill>
              <a:srgbClr val="E8C547"/>
            </a:solidFill>
          </c:spPr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0.09</c:v>
                </c:pt>
                <c:pt idx="1">
                  <c:v>0.38</c:v>
                </c:pt>
                <c:pt idx="2">
                  <c:v>0.95</c:v>
                </c:pt>
                <c:pt idx="3">
                  <c:v>1.85</c:v>
                </c:pt>
                <c:pt idx="4">
                  <c:v>2.1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38385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A8A4BC"/>
          </a:solidFill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solidFill>
                  <a:srgbClr val="F0EEF8"/>
                </a:solidFill>
                <a:latin typeface="Segoe UI"/>
              </a:defRPr>
            </a:pP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A78BFA"/>
            </a:solidFill>
          </c:spPr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-1.8</c:v>
                </c:pt>
                <c:pt idx="1">
                  <c:v>-0.9</c:v>
                </c:pt>
                <c:pt idx="2">
                  <c:v>0.2</c:v>
                </c:pt>
                <c:pt idx="3">
                  <c:v>0.85</c:v>
                </c:pt>
                <c:pt idx="4">
                  <c:v>1.35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38385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A8A4BC"/>
          </a:solidFill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>
                <a:solidFill>
                  <a:srgbClr val="F0EEF8"/>
                </a:solidFill>
                <a:latin typeface="Segoe UI"/>
              </a:defRPr>
            </a:pP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A78BFA"/>
            </a:solidFill>
          </c:spPr>
          <c:cat>
            <c:strRef>
              <c:f>Sheet1!$A$2:$A$6</c:f>
              <c:strCache>
                <c:ptCount val="5"/>
                <c:pt idx="0">
                  <c:v>R&amp;D / product</c:v>
                </c:pt>
                <c:pt idx="1">
                  <c:v>Sales &amp; marketing</c:v>
                </c:pt>
                <c:pt idx="2">
                  <c:v>G&amp;A</c:v>
                </c:pt>
                <c:pt idx="3">
                  <c:v>Infra</c:v>
                </c:pt>
                <c:pt idx="4">
                  <c:v>Support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28</c:v>
                </c:pt>
                <c:pt idx="2">
                  <c:v>14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100">
          <a:solidFill>
            <a:srgbClr val="A8A4BC"/>
          </a:solidFill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solidFill>
                  <a:srgbClr val="F0EEF8"/>
                </a:solidFill>
                <a:latin typeface="Segoe UI"/>
              </a:defRPr>
            </a:pP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$M</c:v>
                </c:pt>
              </c:strCache>
            </c:strRef>
          </c:tx>
          <c:spPr>
            <a:solidFill>
              <a:srgbClr val="A78BFA"/>
            </a:solidFill>
          </c:spPr>
          <c:cat>
            <c:strRef>
              <c:f>Sheet1!$A$2:$A$4</c:f>
              <c:strCache>
                <c:ptCount val="3"/>
                <c:pt idx="0">
                  <c:v>ARPU −15%</c:v>
                </c:pt>
                <c:pt idx="1">
                  <c:v>Base ARPU</c:v>
                </c:pt>
                <c:pt idx="2">
                  <c:v>ARPU +15%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10.6</c:v>
                </c:pt>
                <c:pt idx="1">
                  <c:v>12.5</c:v>
                </c:pt>
                <c:pt idx="2">
                  <c:v>14.4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38385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A8A4BC"/>
          </a:solidFill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solidFill>
                  <a:srgbClr val="F0EEF8"/>
                </a:solidFill>
                <a:latin typeface="Segoe UI"/>
              </a:defRPr>
            </a:pP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$k/mo</c:v>
                </c:pt>
              </c:strCache>
            </c:strRef>
          </c:tx>
          <c:spPr>
            <a:solidFill>
              <a:srgbClr val="A78BFA"/>
            </a:solidFill>
          </c:spPr>
          <c:cat>
            <c:strRef>
              <c:f>Sheet1!$A$2:$A$6</c:f>
              <c:strCache>
                <c:ptCount val="5"/>
                <c:pt idx="0">
                  <c:v>Start</c:v>
                </c:pt>
                <c:pt idx="1">
                  <c:v>+ New logos</c:v>
                </c:pt>
                <c:pt idx="2">
                  <c:v>+ Expansion</c:v>
                </c:pt>
                <c:pt idx="3">
                  <c:v>− Churn</c:v>
                </c:pt>
                <c:pt idx="4">
                  <c:v>= End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28</c:v>
                </c:pt>
                <c:pt idx="2">
                  <c:v>15</c:v>
                </c:pt>
                <c:pt idx="3">
                  <c:v>-8</c:v>
                </c:pt>
                <c:pt idx="4">
                  <c:v>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38385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A8A4BC"/>
          </a:solidFill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400">
                <a:solidFill>
                  <a:srgbClr val="F0EEF8"/>
                </a:solidFill>
                <a:latin typeface="Segoe UI"/>
              </a:defRPr>
            </a:pP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rgbClr val="A78BFA"/>
            </a:solidFill>
          </c:spPr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334</c:v>
                </c:pt>
                <c:pt idx="2">
                  <c:v>714</c:v>
                </c:pt>
                <c:pt idx="3">
                  <c:v>1224</c:v>
                </c:pt>
                <c:pt idx="4">
                  <c:v>2500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 w="6350">
              <a:solidFill>
                <a:srgbClr val="38385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383850"/>
            </a:solidFill>
          </a:ln>
        </c:spPr>
        <c:txPr>
          <a:bodyPr/>
          <a:lstStyle/>
          <a:p>
            <a:pPr>
              <a:defRPr sz="1000">
                <a:solidFill>
                  <a:srgbClr val="A8A4BC"/>
                </a:solidFill>
                <a:latin typeface="Segoe UI"/>
              </a:defRPr>
            </a:pPr>
          </a:p>
        </c:txPr>
        <c:crossAx val="-2101159928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F0EEF8"/>
              </a:solidFill>
              <a:latin typeface="Segoe UI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100">
          <a:solidFill>
            <a:srgbClr val="A8A4BC"/>
          </a:solidFill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914400"/>
            <a:ext cx="5120640" cy="3017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8961120" y="4480560"/>
            <a:ext cx="3840480" cy="2743200"/>
          </a:xfrm>
          <a:prstGeom prst="ellipse">
            <a:avLst/>
          </a:prstGeom>
          <a:solidFill>
            <a:srgbClr val="47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94360" y="6099048"/>
            <a:ext cx="11002975" cy="18288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8E5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— INVESTOR &amp; PARTNER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"/>
            <a:ext cx="1100297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— Vortex Exotic Exchange</a:t>
            </a:r>
          </a:p>
          <a:p>
            <a:pPr>
              <a:defRPr sz="13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Investment &amp; partnership overview  |  Pre-Seed  | 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78992"/>
            <a:ext cx="11002975" cy="9144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822960" y="1508760"/>
            <a:ext cx="10515600" cy="2286000"/>
          </a:xfrm>
          <a:prstGeom prst="roundRect">
            <a:avLst/>
          </a:prstGeom>
          <a:solidFill>
            <a:srgbClr val="121C2A"/>
          </a:solidFill>
          <a:ln w="11430">
            <a:solidFill>
              <a:srgbClr val="3C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 rIns="304800" tIns="304800" bIns="304800" wrap="square"/>
          <a:lstStyle/>
          <a:p>
            <a:pPr algn="ctr">
              <a:spcAft>
                <a:spcPts val="800"/>
              </a:spcAft>
              <a:defRPr sz="1000" b="1">
                <a:solidFill>
                  <a:srgbClr val="69A9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INVESTMENT THESIS</a:t>
            </a:r>
          </a:p>
          <a:p>
            <a:pPr algn="ctr">
              <a:spcAft>
                <a:spcPts val="800"/>
              </a:spcAft>
              <a:defRPr sz="1800" b="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Integrated dealer infrastructure + premium marketplace = durable economic leverage</a:t>
            </a:r>
          </a:p>
          <a:p>
            <a:pPr algn="ctr">
              <a:spcAft>
                <a:spcPts val="800"/>
              </a:spcAft>
              <a:defRPr sz="1200" b="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Conservative assumptions  •  Measurable milestones  •  Capital discipline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160520"/>
            <a:ext cx="2514600" cy="10972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Pre-Money Valuation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$5.5M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4160520"/>
            <a:ext cx="2514600" cy="10972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Revenue Model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SaaS + Marketplace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9904" y="4160520"/>
            <a:ext cx="2514600" cy="10972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Target Market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9A9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$302B TAM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23376" y="4160520"/>
            <a:ext cx="2514600" cy="10972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Stage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F29B5D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Pre-Seed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Prepared for long-horizon investors underwriting execution quality, revenue durability, and defensible moat 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996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business &amp; investor package  •  Confidential — for qualified readers — for qualified readers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6172200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April 2026  |  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914400"/>
            <a:ext cx="5120640" cy="3017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8961120" y="4480560"/>
            <a:ext cx="3840480" cy="2743200"/>
          </a:xfrm>
          <a:prstGeom prst="ellipse">
            <a:avLst/>
          </a:prstGeom>
          <a:solidFill>
            <a:srgbClr val="47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94360" y="6099048"/>
            <a:ext cx="11002975" cy="18288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8E5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— INVESTOR &amp; PARTNER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"/>
            <a:ext cx="1100297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Executive Summary</a:t>
            </a:r>
          </a:p>
          <a:p>
            <a:pPr>
              <a:defRPr sz="13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Why VEX is investable: unified platform, premium segment, disciplined growth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78992"/>
            <a:ext cx="11002975" cy="9144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676656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VEX unifies dealer management (payroll, accounting, inventory, CRM) with a premium automotive marketplace into a single control plane</a:t>
            </a:r>
          </a:p>
          <a:p>
            <a:pPr>
              <a:spcAft>
                <a:spcPts val="600"/>
              </a:spcAft>
              <a:defRPr sz="12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Revenue is subscription-led (68% SaaS) with high-margin transaction upside (28% marketplace) and AI expansion optionality (4%)</a:t>
            </a:r>
          </a:p>
          <a:p>
            <a:pPr>
              <a:spcAft>
                <a:spcPts val="600"/>
              </a:spcAft>
              <a:defRPr sz="12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Adoption enters through high-friction dealer workflows where automation delivers immediate, measurable ROI within 30 days</a:t>
            </a:r>
          </a:p>
          <a:p>
            <a:pPr>
              <a:spcAft>
                <a:spcPts val="600"/>
              </a:spcAft>
              <a:defRPr sz="12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Growth model ties capital deployment to stage-gated operating milestones — no vanity acceleration</a:t>
            </a:r>
          </a:p>
          <a:p>
            <a:pPr>
              <a:spcAft>
                <a:spcPts val="600"/>
              </a:spcAft>
              <a:defRPr sz="12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Primary investment case: durable ARR compounding with defensible integration depth and premium segment pricing power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417320"/>
            <a:ext cx="3840480" cy="8686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Year 1 Target Revenue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$9.8M ARR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377440"/>
            <a:ext cx="3840480" cy="8686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Year 5 Target Revenue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$1.45B ARR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337560"/>
            <a:ext cx="3840480" cy="8686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Pre-Money Valuation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9A9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$5.5M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80560"/>
            <a:ext cx="2697480" cy="10972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▲ Gross Margin Target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78%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4480560"/>
            <a:ext cx="2697480" cy="10972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▲ Net Retention Target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135%+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4480560"/>
            <a:ext cx="2697480" cy="10972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▲ Payback Period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&lt;12 Months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4480560"/>
            <a:ext cx="2697480" cy="10972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▲ Revenue Mix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9A9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68/28/4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1996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business &amp; investor package  •  Confidential — for qualified readers — for qualified readers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6172200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April 2026  | 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914400"/>
            <a:ext cx="5120640" cy="3017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8961120" y="4480560"/>
            <a:ext cx="3840480" cy="2743200"/>
          </a:xfrm>
          <a:prstGeom prst="ellipse">
            <a:avLst/>
          </a:prstGeom>
          <a:solidFill>
            <a:srgbClr val="47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94360" y="6099048"/>
            <a:ext cx="11002975" cy="18288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8E5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— INVESTOR &amp; PARTNER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"/>
            <a:ext cx="1100297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The Industry Challenge</a:t>
            </a:r>
          </a:p>
          <a:p>
            <a:pPr>
              <a:defRPr sz="13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Why luxury auto dealerships are structurally underserved by current technology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78992"/>
            <a:ext cx="11002975" cy="9144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594360" y="1463040"/>
            <a:ext cx="3611880" cy="29260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F29B5D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Fragmented Core Systems</a:t>
            </a:r>
          </a:p>
          <a:p>
            <a:pPr>
              <a:spcAft>
                <a:spcPts val="400"/>
              </a:spcAft>
              <a:defRPr sz="1800">
                <a:solidFill>
                  <a:srgbClr val="F29B5D"/>
                </a:solidFill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⚠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Payroll, inventory, accounting, CRM run on 4-7 disconnected vendors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No single source of truth for real-time operating decisions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Reconciliation cycles delay financial close by 5-10 business days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Data silos create compliance risk and audit exposure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463040"/>
            <a:ext cx="3611880" cy="29260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E86B6B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High-Cost Manual Operations</a:t>
            </a:r>
          </a:p>
          <a:p>
            <a:pPr>
              <a:spcAft>
                <a:spcPts val="400"/>
              </a:spcAft>
              <a:defRPr sz="1800">
                <a:solidFill>
                  <a:srgbClr val="E86B6B"/>
                </a:solidFill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⏱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Manual handoffs between inquiry, qualification, and financing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Sales teams spend 35% of time on administrative data entry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Per-vehicle margin visibility requires manual spreadsheet stitching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Labor cost per transaction 2.4x higher than SaaS-enabled peers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5864" y="1463040"/>
            <a:ext cx="3611880" cy="29260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Premium Buyer Friction</a:t>
            </a:r>
          </a:p>
          <a:p>
            <a:pPr>
              <a:spcAft>
                <a:spcPts val="400"/>
              </a:spcAft>
              <a:defRPr sz="1800">
                <a:solidFill>
                  <a:srgbClr val="E8B963"/>
                </a:solidFill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⭐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High-intent buyers expect luxury-grade digital experience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Inconsistent journey from discovery to ownership degrades trust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Average conversion rate at luxury dealers: only 12-18%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Repeat purchase intent drops 40% with poor digital continuity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617720"/>
            <a:ext cx="2724912" cy="73152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Avg. Vendor Stack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E86B6B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4-7 Systems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4617720"/>
            <a:ext cx="2724912" cy="73152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Manual Process Load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F29B5D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35% of Team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617720"/>
            <a:ext cx="2724912" cy="73152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Conversion Rate Gap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12-18% vs 30%+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4617720"/>
            <a:ext cx="2724912" cy="73152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Revenue at Risk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$2.1M/yr per Dealer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996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business &amp; investor package  •  Confidential — for qualified readers — for qualified readers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6172200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April 2026  | 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914400"/>
            <a:ext cx="5120640" cy="3017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8961120" y="4480560"/>
            <a:ext cx="3840480" cy="2743200"/>
          </a:xfrm>
          <a:prstGeom prst="ellipse">
            <a:avLst/>
          </a:prstGeom>
          <a:solidFill>
            <a:srgbClr val="47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94360" y="6099048"/>
            <a:ext cx="11002975" cy="18288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8E5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— INVESTOR &amp; PARTNER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"/>
            <a:ext cx="1100297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What VEX Delivers</a:t>
            </a:r>
          </a:p>
          <a:p>
            <a:pPr>
              <a:defRPr sz="13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Two integrated products: Dealer Management System + Luxury Marketplace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78992"/>
            <a:ext cx="11002975" cy="9144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5440680" cy="283464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69A9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DEALER MANAGEMENT SYSTEM</a:t>
            </a:r>
          </a:p>
          <a:p>
            <a:pPr>
              <a:spcAft>
                <a:spcPts val="100"/>
              </a:spcAft>
              <a:defRPr sz="11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Autonomous Payroll</a:t>
            </a:r>
          </a:p>
          <a:p>
            <a:pPr>
              <a:spcAft>
                <a:spcPts val="300"/>
              </a:spcAft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    Audit-friendly controls with automated error detection and compliance</a:t>
            </a:r>
          </a:p>
          <a:p>
            <a:pPr>
              <a:spcAft>
                <a:spcPts val="100"/>
              </a:spcAft>
              <a:defRPr sz="11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Accounting Automation</a:t>
            </a:r>
          </a:p>
          <a:p>
            <a:pPr>
              <a:spcAft>
                <a:spcPts val="300"/>
              </a:spcAft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    Close cycles shortened from 10 days to 2 days with real-time reconciliation</a:t>
            </a:r>
          </a:p>
          <a:p>
            <a:pPr>
              <a:spcAft>
                <a:spcPts val="100"/>
              </a:spcAft>
              <a:defRPr sz="11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Inventory Orchestration</a:t>
            </a:r>
          </a:p>
          <a:p>
            <a:pPr>
              <a:spcAft>
                <a:spcPts val="300"/>
              </a:spcAft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    Live turn-rate analytics, aging alerts, and pricing optimization per unit</a:t>
            </a:r>
          </a:p>
          <a:p>
            <a:pPr>
              <a:spcAft>
                <a:spcPts val="100"/>
              </a:spcAft>
              <a:defRPr sz="11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CRM Intelligence</a:t>
            </a:r>
          </a:p>
          <a:p>
            <a:pPr>
              <a:spcAft>
                <a:spcPts val="300"/>
              </a:spcAft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    Automated lead scoring, follow-up sequencing, and response-time SLA tracking</a:t>
            </a:r>
          </a:p>
          <a:p>
            <a:pPr>
              <a:spcAft>
                <a:spcPts val="100"/>
              </a:spcAft>
              <a:defRPr sz="11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Unified Reporting</a:t>
            </a:r>
          </a:p>
          <a:p>
            <a:pPr>
              <a:spcAft>
                <a:spcPts val="300"/>
              </a:spcAft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    Single dashboard for operator visibility across all financial and sales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440680" cy="283464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LUXURY MARKETPLACE</a:t>
            </a:r>
          </a:p>
          <a:p>
            <a:pPr>
              <a:spcAft>
                <a:spcPts val="100"/>
              </a:spcAft>
              <a:defRPr sz="11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Premium Auction Engine</a:t>
            </a:r>
          </a:p>
          <a:p>
            <a:pPr>
              <a:spcAft>
                <a:spcPts val="300"/>
              </a:spcAft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    Professional listing execution with reserve management and bid intelligence</a:t>
            </a:r>
          </a:p>
          <a:p>
            <a:pPr>
              <a:spcAft>
                <a:spcPts val="100"/>
              </a:spcAft>
              <a:defRPr sz="11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Buyer Discovery</a:t>
            </a:r>
          </a:p>
          <a:p>
            <a:pPr>
              <a:spcAft>
                <a:spcPts val="300"/>
              </a:spcAft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    High-intent buyer matching via preference signals and credit readiness</a:t>
            </a:r>
          </a:p>
          <a:p>
            <a:pPr>
              <a:spcAft>
                <a:spcPts val="100"/>
              </a:spcAft>
              <a:defRPr sz="11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Trust Architecture</a:t>
            </a:r>
          </a:p>
          <a:p>
            <a:pPr>
              <a:spcAft>
                <a:spcPts val="300"/>
              </a:spcAft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    Vehicle history verification, condition reports, and escrow-grade security</a:t>
            </a:r>
          </a:p>
          <a:p>
            <a:pPr>
              <a:spcAft>
                <a:spcPts val="100"/>
              </a:spcAft>
              <a:defRPr sz="11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Data Loop-back</a:t>
            </a:r>
          </a:p>
          <a:p>
            <a:pPr>
              <a:spcAft>
                <a:spcPts val="300"/>
              </a:spcAft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    Every marketplace transaction feeds dealer ops for demand forecasting</a:t>
            </a:r>
          </a:p>
          <a:p>
            <a:pPr>
              <a:spcAft>
                <a:spcPts val="100"/>
              </a:spcAft>
              <a:defRPr sz="11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Conversion Optimization</a:t>
            </a:r>
          </a:p>
          <a:p>
            <a:pPr>
              <a:spcAft>
                <a:spcPts val="300"/>
              </a:spcAft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    A/B-tested purchase flows for high-value exotic inventory ($100K-$5M+)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434840"/>
            <a:ext cx="2176272" cy="100584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Close Cycle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10d → 2d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4434840"/>
            <a:ext cx="2176272" cy="100584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Response Time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9A9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4.2h → 18min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4434840"/>
            <a:ext cx="2176272" cy="100584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Conversion Lift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+85%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4434840"/>
            <a:ext cx="2176272" cy="100584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Labor Savings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F29B5D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35% Reduction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4434840"/>
            <a:ext cx="2176272" cy="100584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Margin Visibility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Real-time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996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business &amp; investor package  •  Confidential — for qualified readers — for qualified readers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6172200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April 2026  | 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914400"/>
            <a:ext cx="5120640" cy="3017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8961120" y="4480560"/>
            <a:ext cx="3840480" cy="2743200"/>
          </a:xfrm>
          <a:prstGeom prst="ellipse">
            <a:avLst/>
          </a:prstGeom>
          <a:solidFill>
            <a:srgbClr val="47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94360" y="6099048"/>
            <a:ext cx="11002975" cy="18288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8E5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— INVESTOR &amp; PARTNER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"/>
            <a:ext cx="1100297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Why VEX Wins</a:t>
            </a:r>
          </a:p>
          <a:p>
            <a:pPr>
              <a:defRPr sz="13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Structural advantages that compound over time and resist commoditization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78992"/>
            <a:ext cx="11002975" cy="9144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3611880" cy="265176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77800" rIns="177800" tIns="177800" bIns="17780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69A9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⚡  Integration Depth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Single vendor replaces 4-7 disconnected tools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Cross-system data creates compounding intelligence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Every new workflow increases switching cost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Competitors cannot replicate embedded context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Average switching cost: $180K+ per dealer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Data lock-in deepens with each quarter of usage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434840"/>
            <a:ext cx="3611880" cy="8686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Switching Cost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9A9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4.2x Higher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417320"/>
            <a:ext cx="3611880" cy="265176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77800" rIns="177800" tIns="177800" bIns="17780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📈  Revenue Quality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68% recurring SaaS provides forecast stability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28% marketplace fees add high-margin upside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Net retention target 135%+ through expansion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Multi-stream diversification reduces concentration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Expansion revenue from module upsells and usage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Transaction fees grow with marketplace liquidity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4434840"/>
            <a:ext cx="3611880" cy="8686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Revenue Durability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3-Stream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417320"/>
            <a:ext cx="3611880" cy="265176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77800" rIns="177800" tIns="177800" bIns="17780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🎯  Premium Positioning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Luxury segment supports higher pricing power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Lower churn — premium operators value stability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Strong brand gravity attracts top-tier dealers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Adjacent premium verticals for future expansion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Higher ARPA enables better unit economics</a:t>
            </a:r>
          </a:p>
          <a:p>
            <a:pPr>
              <a:spcAft>
                <a:spcPts val="300"/>
              </a:spcAft>
              <a:defRPr sz="10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Premium buyers expect and pay for quality tooling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4434840"/>
            <a:ext cx="3611880" cy="8686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Segment ARPA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2.8x vs Mass-Market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996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business &amp; investor package  •  Confidential — for qualified readers — for qualified readers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6172200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April 2026  | 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914400"/>
            <a:ext cx="5120640" cy="3017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8961120" y="4480560"/>
            <a:ext cx="3840480" cy="2743200"/>
          </a:xfrm>
          <a:prstGeom prst="ellipse">
            <a:avLst/>
          </a:prstGeom>
          <a:solidFill>
            <a:srgbClr val="47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94360" y="6099048"/>
            <a:ext cx="11002975" cy="18288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8E5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— INVESTOR &amp; PARTNER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"/>
            <a:ext cx="1100297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Market Opportunity</a:t>
            </a:r>
          </a:p>
          <a:p>
            <a:pPr>
              <a:defRPr sz="13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Large, durable market with multiple expansion vectors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78992"/>
            <a:ext cx="11002975" cy="9144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417320"/>
          <a:ext cx="50292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852160" y="1417320"/>
            <a:ext cx="5715000" cy="100584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/>
            <a:r>
              <a:rPr sz="900" b="1">
                <a:solidFill>
                  <a:srgbClr val="F0EEF8"/>
                </a:solidFill>
                <a:latin typeface="Segoe UI"/>
              </a:rPr>
              <a:t>Total Addressable Market  </a:t>
            </a:r>
            <a:r>
              <a:rPr sz="2000" b="1">
                <a:solidFill>
                  <a:srgbClr val="F0EEF8"/>
                </a:solidFill>
                <a:latin typeface="Segoe UI"/>
              </a:rPr>
              <a:t>$302B</a:t>
            </a:r>
          </a:p>
          <a:p>
            <a:pPr>
              <a:spcBef>
                <a:spcPts val="200"/>
              </a:spcBef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Luxury auto commerce, dealer tech, workflow automation, and premium marketplace layers across North America and Europe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2532888"/>
            <a:ext cx="5715000" cy="100584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/>
            <a:r>
              <a:rPr sz="900" b="1">
                <a:solidFill>
                  <a:srgbClr val="F0EEF8"/>
                </a:solidFill>
                <a:latin typeface="Segoe UI"/>
              </a:rPr>
              <a:t>Serviceable Addressable  </a:t>
            </a:r>
            <a:r>
              <a:rPr sz="2000" b="1">
                <a:solidFill>
                  <a:srgbClr val="F0EEF8"/>
                </a:solidFill>
                <a:latin typeface="Segoe UI"/>
              </a:rPr>
              <a:t>$48B</a:t>
            </a:r>
          </a:p>
          <a:p>
            <a:pPr>
              <a:spcBef>
                <a:spcPts val="200"/>
              </a:spcBef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Dealer management systems, luxury marketplace fees, AI-powered operations, and premium demand orchestration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3648456"/>
            <a:ext cx="5715000" cy="100584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/>
            <a:r>
              <a:rPr sz="900" b="1">
                <a:solidFill>
                  <a:srgbClr val="F0EEF8"/>
                </a:solidFill>
                <a:latin typeface="Segoe UI"/>
              </a:rPr>
              <a:t>5-Year Target Capture  </a:t>
            </a:r>
            <a:r>
              <a:rPr sz="2000" b="1">
                <a:solidFill>
                  <a:srgbClr val="F0EEF8"/>
                </a:solidFill>
                <a:latin typeface="Segoe UI"/>
              </a:rPr>
              <a:t>$13.5B</a:t>
            </a:r>
          </a:p>
          <a:p>
            <a:pPr>
              <a:spcBef>
                <a:spcPts val="200"/>
              </a:spcBef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Conservative 4.5% SAM penetration using milestone-gated acquisition and proven unit economics at each growth stage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937760"/>
            <a:ext cx="2743200" cy="8686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Initial Wedge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Luxury Dealer 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8" y="4937760"/>
            <a:ext cx="2743200" cy="8686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Expansion 1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9A9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Multi-Rooftop Groups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216" y="4937760"/>
            <a:ext cx="2743200" cy="8686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Expansion 2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Premium Adjacencies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53144" y="4937760"/>
            <a:ext cx="2743200" cy="8686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Expansion 3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F29B5D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Data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1996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business &amp; investor package  •  Confidential — for qualified readers — for qualified readers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6172200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April 2026  | 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914400"/>
            <a:ext cx="5120640" cy="3017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8961120" y="4480560"/>
            <a:ext cx="3840480" cy="2743200"/>
          </a:xfrm>
          <a:prstGeom prst="ellipse">
            <a:avLst/>
          </a:prstGeom>
          <a:solidFill>
            <a:srgbClr val="47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94360" y="6099048"/>
            <a:ext cx="11002975" cy="18288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8E5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— INVESTOR &amp; PARTNER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"/>
            <a:ext cx="1100297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Revenue Model</a:t>
            </a:r>
          </a:p>
          <a:p>
            <a:pPr>
              <a:defRPr sz="13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Three integrated streams: subscription core + marketplace upside + AI expansion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78992"/>
            <a:ext cx="11002975" cy="9144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41732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212080" y="1417320"/>
            <a:ext cx="4114800" cy="141732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27000" bIns="127000" wrap="square"/>
          <a:lstStyle/>
          <a:p>
            <a:pPr algn="ctr">
              <a:spcAft>
                <a:spcPts val="300"/>
              </a:spcAft>
              <a:defRPr sz="9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DEALER SUBSCRIPTIONS — 68%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Monthly SaaS per location: $799 - $4,999+/mo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Covers payroll, accounting, inventory, CRM, analytics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Predictable recurring base for valuation anchoring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Expansion via module add-ons tied to proven ROI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1554480"/>
            <a:ext cx="2148840" cy="114300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Target GM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82%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926080"/>
            <a:ext cx="4114800" cy="141732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27000" bIns="127000" wrap="square"/>
          <a:lstStyle/>
          <a:p>
            <a:pPr algn="ctr">
              <a:spcAft>
                <a:spcPts val="300"/>
              </a:spcAft>
              <a:defRPr sz="9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MARKETPLACE FEES — 28%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Listing fees, featured placement, transaction commissions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Buyer-side premium services (financing, insurance, logistics)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High-margin revenue with strong unit economics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Network effects: more listings → more buyers → more value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3063240"/>
            <a:ext cx="2148840" cy="114300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Take Rate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6-12%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4434840"/>
            <a:ext cx="4114800" cy="141732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27000" bIns="127000" wrap="square"/>
          <a:lstStyle/>
          <a:p>
            <a:pPr algn="ctr">
              <a:spcAft>
                <a:spcPts val="300"/>
              </a:spcAft>
              <a:defRPr sz="900" b="1">
                <a:solidFill>
                  <a:srgbClr val="F29B5D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AI &amp; PARTNERSHIPS — 4%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Predictive pricing and demand intelligence tools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Partner integrations (financing, warranty, logistics)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Data-as-a-service for market intelligence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Long-term expansion layer with highest margin potential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4572000"/>
            <a:ext cx="2148840" cy="114300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Future Mix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F29B5D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15-20%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996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business &amp; investor package  •  Confidential — for qualified readers — for qualified readers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6172200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April 2026  | 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914400"/>
            <a:ext cx="5120640" cy="3017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8961120" y="4480560"/>
            <a:ext cx="3840480" cy="2743200"/>
          </a:xfrm>
          <a:prstGeom prst="ellipse">
            <a:avLst/>
          </a:prstGeom>
          <a:solidFill>
            <a:srgbClr val="47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94360" y="6099048"/>
            <a:ext cx="11002975" cy="18288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8E5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— INVESTOR &amp; PARTNER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"/>
            <a:ext cx="1100297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Pricing Architecture</a:t>
            </a:r>
          </a:p>
          <a:p>
            <a:pPr>
              <a:defRPr sz="13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Tiered model aligned to dealer maturity, complexity, and value delivered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78992"/>
            <a:ext cx="11002975" cy="9144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3611880" cy="38404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77800" rIns="177800" tIns="177800" bIns="177800" wrap="square"/>
          <a:lstStyle/>
          <a:p>
            <a:pPr algn="ctr">
              <a:spcAft>
                <a:spcPts val="200"/>
              </a:spcAft>
              <a:defRPr sz="1200" b="1">
                <a:solidFill>
                  <a:srgbClr val="F29B5D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STARTER</a:t>
            </a:r>
          </a:p>
          <a:p>
            <a:pPr>
              <a:spcAft>
                <a:spcPts val="400"/>
              </a:spcAft>
              <a:defRPr sz="2800" b="1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$799/mo</a:t>
            </a:r>
          </a:p>
          <a:p>
            <a:pPr>
              <a:spcAft>
                <a:spcPts val="600"/>
              </a:spcAft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Single-location operators modernizing their infrastructure</a:t>
            </a:r>
          </a:p>
          <a:p>
            <a:pPr>
              <a:spcAft>
                <a:spcPts val="400"/>
              </a:spcAft>
              <a:defRPr sz="600">
                <a:solidFill>
                  <a:srgbClr val="3C5271"/>
                </a:solidFill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──────────────────────────────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 Core payroll + accounting automation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 Basic inventory management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 Standard CRM with lead routing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 Monthly performance dashboard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 Email support + onboarding guide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 Marketplace listing access (basic)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 Standard reporting templates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349240"/>
            <a:ext cx="3611880" cy="4114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Target Segment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F29B5D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60% of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371600"/>
            <a:ext cx="3611880" cy="38404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77800" rIns="177800" tIns="177800" bIns="177800" wrap="square"/>
          <a:lstStyle/>
          <a:p>
            <a:pPr algn="ctr">
              <a:spcAft>
                <a:spcPts val="200"/>
              </a:spcAft>
              <a:defRPr sz="12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PROFESSIONAL</a:t>
            </a:r>
          </a:p>
          <a:p>
            <a:pPr>
              <a:spcAft>
                <a:spcPts val="400"/>
              </a:spcAft>
              <a:defRPr sz="2800" b="1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$2,499/mo</a:t>
            </a:r>
          </a:p>
          <a:p>
            <a:pPr>
              <a:spcAft>
                <a:spcPts val="600"/>
              </a:spcAft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Scaling dealers requiring stronger throughput and intelligence</a:t>
            </a:r>
          </a:p>
          <a:p>
            <a:pPr>
              <a:spcAft>
                <a:spcPts val="400"/>
              </a:spcAft>
              <a:defRPr sz="600">
                <a:solidFill>
                  <a:srgbClr val="3C5271"/>
                </a:solidFill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──────────────────────────────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 Everything in Starter, plus: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 Advanced automation + workflow rules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 Demand orchestration + buyer matching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 Predictive pricing recommendations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 Priority support + dedicated CSM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 Featured marketplace placement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 Custom reporting + benchmarks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5349240"/>
            <a:ext cx="3611880" cy="4114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Highest Margin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Target: 84% GM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371600"/>
            <a:ext cx="3611880" cy="38404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77800" rIns="177800" tIns="177800" bIns="177800" wrap="square"/>
          <a:lstStyle/>
          <a:p>
            <a:pPr algn="ctr">
              <a:spcAft>
                <a:spcPts val="200"/>
              </a:spcAft>
              <a:defRPr sz="1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ENTERPRISE</a:t>
            </a:r>
          </a:p>
          <a:p>
            <a:pPr>
              <a:spcAft>
                <a:spcPts val="400"/>
              </a:spcAft>
              <a:defRPr sz="2800" b="1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$4,999+/mo</a:t>
            </a:r>
          </a:p>
          <a:p>
            <a:pPr>
              <a:spcAft>
                <a:spcPts val="600"/>
              </a:spcAft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Multi-rooftop groups needing governance and portfolio visibility</a:t>
            </a:r>
          </a:p>
          <a:p>
            <a:pPr>
              <a:spcAft>
                <a:spcPts val="400"/>
              </a:spcAft>
              <a:defRPr sz="600">
                <a:solidFill>
                  <a:srgbClr val="3C5271"/>
                </a:solidFill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──────────────────────────────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 Everything in Professional, plus: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 Multi-location dashboard + governance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 Deep integrations (DMS, OEM, finance)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 Custom analytics + executive reporting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 24/7 support + quarterly business reviews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 Premium auction + reserve management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✓  Dedicated success architect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5349240"/>
            <a:ext cx="3611880" cy="4114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Expansion Driver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135%+ NRR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996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business &amp; investor package  •  Confidential — for qualified readers — for qualified readers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6172200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April 2026  | 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914400"/>
            <a:ext cx="5120640" cy="3017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8961120" y="4480560"/>
            <a:ext cx="3840480" cy="2743200"/>
          </a:xfrm>
          <a:prstGeom prst="ellipse">
            <a:avLst/>
          </a:prstGeom>
          <a:solidFill>
            <a:srgbClr val="47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94360" y="6099048"/>
            <a:ext cx="11002975" cy="18288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8E5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— INVESTOR &amp; PARTNER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"/>
            <a:ext cx="1100297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Financial Projections</a:t>
            </a:r>
          </a:p>
          <a:p>
            <a:pPr>
              <a:defRPr sz="13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Conservative 5-year model tied to execution milestones, not optimistic speculation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78992"/>
            <a:ext cx="11002975" cy="9144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417320"/>
          <a:ext cx="68580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80960" y="1417320"/>
            <a:ext cx="3931920" cy="59436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101600" bIns="101600" wrap="square"/>
          <a:lstStyle/>
          <a:p>
            <a:pPr algn="ctr"/>
            <a:r>
              <a:rPr sz="800" b="1">
                <a:solidFill>
                  <a:srgbClr val="F0EEF8"/>
                </a:solidFill>
                <a:latin typeface="Segoe UI"/>
              </a:rPr>
              <a:t>YEAR 1  </a:t>
            </a:r>
            <a:r>
              <a:rPr sz="1600" b="1">
                <a:solidFill>
                  <a:srgbClr val="F0EEF8"/>
                </a:solidFill>
                <a:latin typeface="Segoe UI"/>
              </a:rPr>
              <a:t>$9.8M  </a:t>
            </a:r>
          </a:p>
          <a:p>
            <a:pPr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Anchor cohort: 15-25 dealers, validate playbook, prove unit economics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075688"/>
            <a:ext cx="3931920" cy="59436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101600" bIns="101600" wrap="square"/>
          <a:lstStyle/>
          <a:p>
            <a:pPr algn="ctr"/>
            <a:r>
              <a:rPr sz="800" b="1">
                <a:solidFill>
                  <a:srgbClr val="F0EEF8"/>
                </a:solidFill>
                <a:latin typeface="Segoe UI"/>
              </a:rPr>
              <a:t>YEAR 2  </a:t>
            </a:r>
            <a:r>
              <a:rPr sz="1600" b="1">
                <a:solidFill>
                  <a:srgbClr val="F0EEF8"/>
                </a:solidFill>
                <a:latin typeface="Segoe UI"/>
              </a:rPr>
              <a:t>$50M  </a:t>
            </a:r>
          </a:p>
          <a:p>
            <a:pPr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Expand channels: 80-120 dealers, optimize CAC/LTV, launch marketplace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734056"/>
            <a:ext cx="3931920" cy="59436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101600" bIns="101600" wrap="square"/>
          <a:lstStyle/>
          <a:p>
            <a:pPr algn="ctr"/>
            <a:r>
              <a:rPr sz="800" b="1">
                <a:solidFill>
                  <a:srgbClr val="F0EEF8"/>
                </a:solidFill>
                <a:latin typeface="Segoe UI"/>
              </a:rPr>
              <a:t>YEAR 3  </a:t>
            </a:r>
            <a:r>
              <a:rPr sz="1600" b="1">
                <a:solidFill>
                  <a:srgbClr val="F0EEF8"/>
                </a:solidFill>
                <a:latin typeface="Segoe UI"/>
              </a:rPr>
              <a:t>$380M  </a:t>
            </a:r>
          </a:p>
          <a:p>
            <a:pPr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Regional scale: 400+ dealers, automation deepens, marketplace compounds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3392424"/>
            <a:ext cx="3931920" cy="59436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101600" bIns="101600" wrap="square"/>
          <a:lstStyle/>
          <a:p>
            <a:pPr algn="ctr"/>
            <a:r>
              <a:rPr sz="800" b="1">
                <a:solidFill>
                  <a:srgbClr val="F0EEF8"/>
                </a:solidFill>
                <a:latin typeface="Segoe UI"/>
              </a:rPr>
              <a:t>YEAR 4  </a:t>
            </a:r>
            <a:r>
              <a:rPr sz="1600" b="1">
                <a:solidFill>
                  <a:srgbClr val="F0EEF8"/>
                </a:solidFill>
                <a:latin typeface="Segoe UI"/>
              </a:rPr>
              <a:t>$900M  </a:t>
            </a:r>
          </a:p>
          <a:p>
            <a:pPr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National coverage: 1,200+ dealers, enterprise tier accelerates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4050791"/>
            <a:ext cx="3931920" cy="59436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101600" bIns="101600" wrap="square"/>
          <a:lstStyle/>
          <a:p>
            <a:pPr algn="ctr"/>
            <a:r>
              <a:rPr sz="800" b="1">
                <a:solidFill>
                  <a:srgbClr val="F0EEF8"/>
                </a:solidFill>
                <a:latin typeface="Segoe UI"/>
              </a:rPr>
              <a:t>YEAR 5  </a:t>
            </a:r>
            <a:r>
              <a:rPr sz="1600" b="1">
                <a:solidFill>
                  <a:srgbClr val="F0EEF8"/>
                </a:solidFill>
                <a:latin typeface="Segoe UI"/>
              </a:rPr>
              <a:t>$1.45B  </a:t>
            </a:r>
          </a:p>
          <a:p>
            <a:pPr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Platform maturity: 2,500+ dealers, multi-market, data-services revenue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663440"/>
            <a:ext cx="2743200" cy="8686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Gross Margin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72% → 82%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7288" y="4663440"/>
            <a:ext cx="2743200" cy="8686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CAC Payback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&lt;12 Months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216" y="4663440"/>
            <a:ext cx="2743200" cy="8686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ARPA Growth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9A9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18% YoY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3144" y="4663440"/>
            <a:ext cx="2743200" cy="8686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Churn Target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&lt;5% Annual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1996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business &amp; investor package  •  Confidential — for qualified readers — for qualified readers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6172200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April 2026  | 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914400"/>
            <a:ext cx="5120640" cy="3017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8961120" y="4480560"/>
            <a:ext cx="3840480" cy="2743200"/>
          </a:xfrm>
          <a:prstGeom prst="ellipse">
            <a:avLst/>
          </a:prstGeom>
          <a:solidFill>
            <a:srgbClr val="47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94360" y="6099048"/>
            <a:ext cx="11002975" cy="18288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8E5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— INVESTOR &amp; PARTNER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"/>
            <a:ext cx="1100297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Growth Plan</a:t>
            </a:r>
          </a:p>
          <a:p>
            <a:pPr>
              <a:defRPr sz="13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Disciplined 4-phase execution with stage gates at every transition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78992"/>
            <a:ext cx="11002975" cy="9144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5440680" cy="196596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0EEF8"/>
                </a:solidFill>
                <a:latin typeface="Segoe UI"/>
              </a:rPr>
              <a:t>PHASE 1  </a:t>
            </a:r>
            <a:r>
              <a:rPr sz="1000">
                <a:solidFill>
                  <a:srgbClr val="F0EEF8"/>
                </a:solidFill>
                <a:latin typeface="Segoe UI"/>
              </a:rPr>
              <a:t>Months 1–6  —  Foundation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Secure 15-25 anchor luxury dealers in 2-3 metro markets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Validate onboarding playbook: target &lt;14 days to live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Establish KPI baselines for retention, activation, NPS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Prove unit economics: CAC &lt;$8K, payback &lt;10 months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Build initial case studies from top-performing pilots</a:t>
            </a:r>
          </a:p>
          <a:p>
            <a:pPr>
              <a:spcBef>
                <a:spcPts val="300"/>
              </a:spcBef>
              <a:defRPr sz="800" b="1">
                <a:solidFill>
                  <a:srgbClr val="F29B5D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→ Gate: 90%+ activation, &gt;80% 90-day retention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440680" cy="196596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0EEF8"/>
                </a:solidFill>
                <a:latin typeface="Segoe UI"/>
              </a:rPr>
              <a:t>PHASE 2  </a:t>
            </a:r>
            <a:r>
              <a:rPr sz="1000">
                <a:solidFill>
                  <a:srgbClr val="F0EEF8"/>
                </a:solidFill>
                <a:latin typeface="Segoe UI"/>
              </a:rPr>
              <a:t>Months 7–12  —  Traction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Scale to 80-120 dealers via repeatable channel acquisition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Optimize conversion funnel through controlled A/B iteration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Launch marketplace beta with 500+ premium listings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Achieve $9.8M ARR run-rate with disciplined unit economics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Hire sales team: 2 AEs + 2 CSMs for expansion revenue</a:t>
            </a:r>
          </a:p>
          <a:p>
            <a:pPr>
              <a:spcBef>
                <a:spcPts val="300"/>
              </a:spcBef>
              <a:defRPr sz="8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→ Gate: $9.8M ARR, CAC/LTV &gt; 3x, NPS &gt; 55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520440"/>
            <a:ext cx="5440680" cy="196596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0EEF8"/>
                </a:solidFill>
                <a:latin typeface="Segoe UI"/>
              </a:rPr>
              <a:t>PHASE 3  </a:t>
            </a:r>
            <a:r>
              <a:rPr sz="1000">
                <a:solidFill>
                  <a:srgbClr val="F0EEF8"/>
                </a:solidFill>
                <a:latin typeface="Segoe UI"/>
              </a:rPr>
              <a:t>Months 13–24  —  Scale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Expand to 400+ dealers with regional sales teams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Deepen automation: reduce manual ops by additional 40%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Full marketplace launch with buyer-side monetization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Build enterprise tier for multi-rooftop groups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Launch AI pricing intelligence as premium add-on</a:t>
            </a:r>
          </a:p>
          <a:p>
            <a:pPr>
              <a:spcBef>
                <a:spcPts val="300"/>
              </a:spcBef>
              <a:defRPr sz="800" b="1">
                <a:solidFill>
                  <a:srgbClr val="69A9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→ Gate: $50M+ ARR, 135%+ NRR, &lt;5% churn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520440"/>
            <a:ext cx="5440680" cy="196596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0EEF8"/>
                </a:solidFill>
                <a:latin typeface="Segoe UI"/>
              </a:rPr>
              <a:t>PHASE 4  </a:t>
            </a:r>
            <a:r>
              <a:rPr sz="1000">
                <a:solidFill>
                  <a:srgbClr val="F0EEF8"/>
                </a:solidFill>
                <a:latin typeface="Segoe UI"/>
              </a:rPr>
              <a:t>Months 25–60  —  Dominance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Drive retention-led expansion with proven playbooks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Enter adjacent premium verticals (marine, aviation, RE)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Launch AI/data-services revenue stream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Scale toward $1B+ ARR with capital efficiency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Build partner ecosystem for long-term platform value</a:t>
            </a:r>
          </a:p>
          <a:p>
            <a:pPr>
              <a:spcBef>
                <a:spcPts val="300"/>
              </a:spcBef>
              <a:defRPr sz="8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→ Gate: $380M+ ARR, GM &gt;80%, market leadership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996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business &amp; investor package  •  Confidential — for qualified readers — for qualified readers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6172200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April 2026  | 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914400"/>
            <a:ext cx="5120640" cy="3017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8961120" y="4480560"/>
            <a:ext cx="3840480" cy="2743200"/>
          </a:xfrm>
          <a:prstGeom prst="ellipse">
            <a:avLst/>
          </a:prstGeom>
          <a:solidFill>
            <a:srgbClr val="47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94360" y="6099048"/>
            <a:ext cx="11002975" cy="18288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8E5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— INVESTOR &amp; PARTNER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"/>
            <a:ext cx="1100297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Competitive Advantage</a:t>
            </a:r>
          </a:p>
          <a:p>
            <a:pPr>
              <a:defRPr sz="13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Why VEX is structurally differentiated from incumbents and new entrants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78992"/>
            <a:ext cx="11002975" cy="9144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71600"/>
          <a:ext cx="7589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828800"/>
                <a:gridCol w="1920240"/>
              </a:tblGrid>
              <a:tr h="51206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8B963"/>
                          </a:solidFill>
                          <a:latin typeface="Liberation Sans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2438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8B963"/>
                          </a:solidFill>
                          <a:latin typeface="Liberation Sans"/>
                        </a:defRPr>
                      </a:pPr>
                      <a:r>
                        <a:t>Legacy DMS</a:t>
                      </a:r>
                    </a:p>
                  </a:txBody>
                  <a:tcPr>
                    <a:solidFill>
                      <a:srgbClr val="2438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8B963"/>
                          </a:solidFill>
                          <a:latin typeface="Liberation Sans"/>
                        </a:defRPr>
                      </a:pPr>
                      <a:r>
                        <a:t>Point Solutions</a:t>
                      </a:r>
                    </a:p>
                  </a:txBody>
                  <a:tcPr>
                    <a:solidFill>
                      <a:srgbClr val="2438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8B963"/>
                          </a:solidFill>
                          <a:latin typeface="Liberation Sans"/>
                        </a:defRPr>
                      </a:pPr>
                      <a:r>
                        <a:t>VEX</a:t>
                      </a:r>
                    </a:p>
                  </a:txBody>
                  <a:tcPr>
                    <a:solidFill>
                      <a:srgbClr val="24385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F1FF"/>
                          </a:solidFill>
                          <a:latin typeface="Liberation Sans"/>
                        </a:defRPr>
                      </a:pPr>
                      <a:r>
                        <a:t>Unified Operations</a:t>
                      </a:r>
                    </a:p>
                  </a:txBody>
                  <a:tcPr>
                    <a:solidFill>
                      <a:srgbClr val="12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86B6B"/>
                          </a:solidFill>
                          <a:latin typeface="Liberation Sans"/>
                        </a:defRPr>
                      </a:pPr>
                      <a:r>
                        <a:t>✘ Fragmented</a:t>
                      </a:r>
                    </a:p>
                  </a:txBody>
                  <a:tcPr>
                    <a:solidFill>
                      <a:srgbClr val="12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86B6B"/>
                          </a:solidFill>
                          <a:latin typeface="Liberation Sans"/>
                        </a:defRPr>
                      </a:pPr>
                      <a:r>
                        <a:t>✘ Siloed</a:t>
                      </a:r>
                    </a:p>
                  </a:txBody>
                  <a:tcPr>
                    <a:solidFill>
                      <a:srgbClr val="12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6AD3B2"/>
                          </a:solidFill>
                          <a:latin typeface="Liberation Sans"/>
                        </a:defRPr>
                      </a:pPr>
                      <a:r>
                        <a:t>✓ Integrated</a:t>
                      </a:r>
                    </a:p>
                  </a:txBody>
                  <a:tcPr>
                    <a:solidFill>
                      <a:srgbClr val="15253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F1FF"/>
                          </a:solidFill>
                          <a:latin typeface="Liberation Sans"/>
                        </a:defRPr>
                      </a:pPr>
                      <a:r>
                        <a:t>Premium Marketplace</a:t>
                      </a:r>
                    </a:p>
                  </a:txBody>
                  <a:tcPr>
                    <a:solidFill>
                      <a:srgbClr val="12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86B6B"/>
                          </a:solidFill>
                          <a:latin typeface="Liberation Sans"/>
                        </a:defRPr>
                      </a:pPr>
                      <a:r>
                        <a:t>✘ None</a:t>
                      </a:r>
                    </a:p>
                  </a:txBody>
                  <a:tcPr>
                    <a:solidFill>
                      <a:srgbClr val="12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29B5D"/>
                          </a:solidFill>
                          <a:latin typeface="Liberation Sans"/>
                        </a:defRPr>
                      </a:pPr>
                      <a:r>
                        <a:t>∼ Limited</a:t>
                      </a:r>
                    </a:p>
                  </a:txBody>
                  <a:tcPr>
                    <a:solidFill>
                      <a:srgbClr val="12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6AD3B2"/>
                          </a:solidFill>
                          <a:latin typeface="Liberation Sans"/>
                        </a:defRPr>
                      </a:pPr>
                      <a:r>
                        <a:t>✓ Full Engine</a:t>
                      </a:r>
                    </a:p>
                  </a:txBody>
                  <a:tcPr>
                    <a:solidFill>
                      <a:srgbClr val="15253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F1FF"/>
                          </a:solidFill>
                          <a:latin typeface="Liberation Sans"/>
                        </a:defRPr>
                      </a:pPr>
                      <a:r>
                        <a:t>AI/Automation</a:t>
                      </a:r>
                    </a:p>
                  </a:txBody>
                  <a:tcPr>
                    <a:solidFill>
                      <a:srgbClr val="12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86B6B"/>
                          </a:solidFill>
                          <a:latin typeface="Liberation Sans"/>
                        </a:defRPr>
                      </a:pPr>
                      <a:r>
                        <a:t>✘ Manual</a:t>
                      </a:r>
                    </a:p>
                  </a:txBody>
                  <a:tcPr>
                    <a:solidFill>
                      <a:srgbClr val="12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29B5D"/>
                          </a:solidFill>
                          <a:latin typeface="Liberation Sans"/>
                        </a:defRPr>
                      </a:pPr>
                      <a:r>
                        <a:t>∼ Basic</a:t>
                      </a:r>
                    </a:p>
                  </a:txBody>
                  <a:tcPr>
                    <a:solidFill>
                      <a:srgbClr val="12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6AD3B2"/>
                          </a:solidFill>
                          <a:latin typeface="Liberation Sans"/>
                        </a:defRPr>
                      </a:pPr>
                      <a:r>
                        <a:t>✓ Deep AI Layer</a:t>
                      </a:r>
                    </a:p>
                  </a:txBody>
                  <a:tcPr>
                    <a:solidFill>
                      <a:srgbClr val="15253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BF1FF"/>
                          </a:solidFill>
                          <a:latin typeface="Liberation Sans"/>
                        </a:defRPr>
                      </a:pPr>
                      <a:r>
                        <a:t>Data Compounding</a:t>
                      </a:r>
                    </a:p>
                  </a:txBody>
                  <a:tcPr>
                    <a:solidFill>
                      <a:srgbClr val="12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86B6B"/>
                          </a:solidFill>
                          <a:latin typeface="Liberation Sans"/>
                        </a:defRPr>
                      </a:pPr>
                      <a:r>
                        <a:t>✘ Static</a:t>
                      </a:r>
                    </a:p>
                  </a:txBody>
                  <a:tcPr>
                    <a:solidFill>
                      <a:srgbClr val="12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86B6B"/>
                          </a:solidFill>
                          <a:latin typeface="Liberation Sans"/>
                        </a:defRPr>
                      </a:pPr>
                      <a:r>
                        <a:t>✘ No Loop</a:t>
                      </a:r>
                    </a:p>
                  </a:txBody>
                  <a:tcPr>
                    <a:solidFill>
                      <a:srgbClr val="121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6AD3B2"/>
                          </a:solidFill>
                          <a:latin typeface="Liberation Sans"/>
                        </a:defRPr>
                      </a:pPr>
                      <a:r>
                        <a:t>✓ Feedback Loop</a:t>
                      </a:r>
                    </a:p>
                  </a:txBody>
                  <a:tcPr>
                    <a:solidFill>
                      <a:srgbClr val="152535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366760" y="1371600"/>
            <a:ext cx="3246120" cy="4114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Product Readiness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792224"/>
            <a:ext cx="324612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8366760" y="1792224"/>
            <a:ext cx="2759201" cy="73152"/>
          </a:xfrm>
          <a:prstGeom prst="roundRect">
            <a:avLst/>
          </a:prstGeom>
          <a:solidFill>
            <a:srgbClr val="6A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8366760" y="1883664"/>
            <a:ext cx="3246120" cy="4114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Revenue Resilience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High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304288"/>
            <a:ext cx="324612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8366760" y="2304288"/>
            <a:ext cx="2661818" cy="73152"/>
          </a:xfrm>
          <a:prstGeom prst="roundRect">
            <a:avLst/>
          </a:prstGeom>
          <a:solidFill>
            <a:srgbClr val="6A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8366760" y="2395728"/>
            <a:ext cx="3246120" cy="4114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GTM Confidence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Med-High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816352"/>
            <a:ext cx="324612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8366760" y="2816352"/>
            <a:ext cx="2337206" cy="73152"/>
          </a:xfrm>
          <a:prstGeom prst="roundRect">
            <a:avLst/>
          </a:prstGeom>
          <a:solidFill>
            <a:srgbClr val="E8B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8366760" y="2907792"/>
            <a:ext cx="3246120" cy="4114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Integration Moat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High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3328416"/>
            <a:ext cx="324612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8366760" y="3328416"/>
            <a:ext cx="2856585" cy="73152"/>
          </a:xfrm>
          <a:prstGeom prst="roundRect">
            <a:avLst/>
          </a:prstGeom>
          <a:solidFill>
            <a:srgbClr val="6A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8366760" y="3419856"/>
            <a:ext cx="3246120" cy="4114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Team Readiness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High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66760" y="3840480"/>
            <a:ext cx="324612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8366760" y="3840480"/>
            <a:ext cx="2596896" cy="73152"/>
          </a:xfrm>
          <a:prstGeom prst="roundRect">
            <a:avLst/>
          </a:prstGeom>
          <a:solidFill>
            <a:srgbClr val="6AD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25" name="Rounded Rectangle 24"/>
          <p:cNvSpPr/>
          <p:nvPr/>
        </p:nvSpPr>
        <p:spPr>
          <a:xfrm>
            <a:off x="594360" y="4160520"/>
            <a:ext cx="3611880" cy="137160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⚡ Integration Lock-in</a:t>
            </a:r>
          </a:p>
          <a:p>
            <a:pPr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Every dealer workflow embedded increases switching cost by 18% per module adopted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5112" y="4160520"/>
            <a:ext cx="3611880" cy="137160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📊 Data Compounding</a:t>
            </a:r>
          </a:p>
          <a:p>
            <a:pPr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Transaction + behavior signals improve pricing accuracy and conversion by 2-4% per quarter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5864" y="4160520"/>
            <a:ext cx="3611880" cy="137160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🎯 Premium Network</a:t>
            </a:r>
          </a:p>
          <a:p>
            <a:pPr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Luxury dealer network creates buyer trust gravity that new entrants cannot replicate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1996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business &amp; investor package  •  Confidential — for qualified readers — for qualified readers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6172200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April 2026  | 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914400"/>
            <a:ext cx="5120640" cy="3017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8961120" y="4480560"/>
            <a:ext cx="3840480" cy="2743200"/>
          </a:xfrm>
          <a:prstGeom prst="ellipse">
            <a:avLst/>
          </a:prstGeom>
          <a:solidFill>
            <a:srgbClr val="47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94360" y="6099048"/>
            <a:ext cx="11002975" cy="18288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8E5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— INVESTOR &amp; PARTNER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"/>
            <a:ext cx="1100297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Technical Moat &amp; Platform Architecture</a:t>
            </a:r>
          </a:p>
          <a:p>
            <a:pPr>
              <a:defRPr sz="13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Four layers of compounding technical advantage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78992"/>
            <a:ext cx="11002975" cy="9144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5440680" cy="192024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>
              <a:spcAft>
                <a:spcPts val="200"/>
              </a:spcAft>
              <a:defRPr sz="1200" b="1">
                <a:solidFill>
                  <a:srgbClr val="69A9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⚡  Realtime Systems</a:t>
            </a:r>
          </a:p>
          <a:p>
            <a:pPr>
              <a:spcAft>
                <a:spcPts val="400"/>
              </a:spcAft>
              <a:defRPr sz="900" i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Low-latency orchestration enables reliable high-value transaction timing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Sub-200ms API response for pricing and inventory queries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WebSocket-driven live auction and bidding infrastructure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Event-sourced architecture for complete audit trails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99.95% uptime SLA for mission-critical dealer operations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Auto-scaling infrastructure for traffic spikes during auctions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440680" cy="192024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>
              <a:spcAft>
                <a:spcPts val="200"/>
              </a:spcAft>
              <a:defRPr sz="12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🤖  Operational Autonomy (AI)</a:t>
            </a:r>
          </a:p>
          <a:p>
            <a:pPr>
              <a:spcAft>
                <a:spcPts val="400"/>
              </a:spcAft>
              <a:defRPr sz="900" i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Intelligent automation reduces repetitive work while preserving dealer control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Automated payroll processing with error detection and compliance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Smart lead scoring using behavioral and transactional signals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Predictive inventory aging alerts with pricing recommendations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Natural language reporting for non-technical dealer principals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Anomaly detection for fraud prevention and compliance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474720"/>
            <a:ext cx="5440680" cy="192024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>
              <a:spcAft>
                <a:spcPts val="200"/>
              </a:spcAft>
              <a:defRPr sz="1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📊  Compounding Data</a:t>
            </a:r>
          </a:p>
          <a:p>
            <a:pPr>
              <a:spcAft>
                <a:spcPts val="400"/>
              </a:spcAft>
              <a:defRPr sz="900" i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Every transaction and interaction improves the system for all participants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Buyer preference modeling improves match quality over time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Transaction history enables more accurate vehicle valuations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Cross-dealer benchmarking creates industry intelligence layer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Data moat deepens with every new dealer and buyer onboarded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Predictive demand signals improve inventory allocation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474720"/>
            <a:ext cx="5440680" cy="192024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>
              <a:spcAft>
                <a:spcPts val="200"/>
              </a:spcAft>
              <a:defRPr sz="1200" b="1">
                <a:solidFill>
                  <a:srgbClr val="F29B5D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🔗  Integration Depth</a:t>
            </a:r>
          </a:p>
          <a:p>
            <a:pPr>
              <a:spcAft>
                <a:spcPts val="400"/>
              </a:spcAft>
              <a:defRPr sz="900" i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Cross-system embedding creates switching costs competitors cannot replicate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Deep integrations with OEM systems, DMS, and financing partners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Unified data model across payroll, inventory, CRM, and marketplace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API-first architecture enables partner ecosystem development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Average replacement cost estimated at $180K+ per dealer</a:t>
            </a:r>
          </a:p>
          <a:p>
            <a:pPr>
              <a:spcAft>
                <a:spcPts val="1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Workflow embedding increases with every module adopted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996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business &amp; investor package  •  Confidential — for qualified readers — for qualified readers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6172200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April 2026  | 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914400"/>
            <a:ext cx="5120640" cy="3017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8961120" y="4480560"/>
            <a:ext cx="3840480" cy="2743200"/>
          </a:xfrm>
          <a:prstGeom prst="ellipse">
            <a:avLst/>
          </a:prstGeom>
          <a:solidFill>
            <a:srgbClr val="47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94360" y="6099048"/>
            <a:ext cx="11002975" cy="18288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8E5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— INVESTOR &amp; PARTNER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"/>
            <a:ext cx="1100297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Risks &amp; Mitigations</a:t>
            </a:r>
          </a:p>
          <a:p>
            <a:pPr>
              <a:defRPr sz="13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Proactive risk management with specific, measurable response strategies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78992"/>
            <a:ext cx="11002975" cy="9144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11018520" cy="1097280"/>
          </a:xfrm>
          <a:prstGeom prst="roundRect">
            <a:avLst/>
          </a:prstGeom>
          <a:solidFill>
            <a:srgbClr val="121C2A"/>
          </a:solidFill>
          <a:ln w="11430">
            <a:solidFill>
              <a:srgbClr val="3C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EEF8"/>
                </a:solidFill>
                <a:latin typeface="Segoe UI"/>
              </a:rPr>
              <a:t>Adoption Pace  </a:t>
            </a:r>
            <a:r>
              <a:rPr sz="900" b="1">
                <a:solidFill>
                  <a:srgbClr val="F0EEF8"/>
                </a:solidFill>
                <a:latin typeface="Segoe UI"/>
              </a:rPr>
              <a:t>[HIGH]</a:t>
            </a:r>
          </a:p>
          <a:p>
            <a:pPr>
              <a:spcAft>
                <a:spcPts val="200"/>
              </a:spcAft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Early cohort adoption may lag baseline projections due to longer sales cycles in luxury auto</a:t>
            </a:r>
          </a:p>
          <a:p>
            <a:pPr>
              <a:spcAft>
                <a:spcPts val="100"/>
              </a:spcAft>
              <a:defRPr sz="900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Mitigation: Milestone-gated rollout with leading indicators at 30/60/90 day checkpoints. Fallback to concierge onboarding if self-serve activation &lt; 70%.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96312"/>
            <a:ext cx="11018520" cy="1097280"/>
          </a:xfrm>
          <a:prstGeom prst="roundRect">
            <a:avLst/>
          </a:prstGeom>
          <a:solidFill>
            <a:srgbClr val="121C2A"/>
          </a:solidFill>
          <a:ln w="11430">
            <a:solidFill>
              <a:srgbClr val="3C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EEF8"/>
                </a:solidFill>
                <a:latin typeface="Segoe UI"/>
              </a:rPr>
              <a:t>Technical Complexity  </a:t>
            </a:r>
            <a:r>
              <a:rPr sz="900" b="1">
                <a:solidFill>
                  <a:srgbClr val="F0EEF8"/>
                </a:solidFill>
                <a:latin typeface="Segoe UI"/>
              </a:rPr>
              <a:t>[MEDIUM]</a:t>
            </a:r>
          </a:p>
          <a:p>
            <a:pPr>
              <a:spcAft>
                <a:spcPts val="200"/>
              </a:spcAft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Multi-system integration and real-time requirements may pressure release cadence and reliability</a:t>
            </a:r>
          </a:p>
          <a:p>
            <a:pPr>
              <a:spcAft>
                <a:spcPts val="100"/>
              </a:spcAft>
              <a:defRPr sz="900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Mitigation: Reliability-first release model. Staged feature rollout with production hardening sprints every 6 weeks. 99.95% uptime SLA with automated monitoring.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666744"/>
            <a:ext cx="11018520" cy="1097280"/>
          </a:xfrm>
          <a:prstGeom prst="roundRect">
            <a:avLst/>
          </a:prstGeom>
          <a:solidFill>
            <a:srgbClr val="121C2A"/>
          </a:solidFill>
          <a:ln w="11430">
            <a:solidFill>
              <a:srgbClr val="3C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EEF8"/>
                </a:solidFill>
                <a:latin typeface="Segoe UI"/>
              </a:rPr>
              <a:t>Regulatory Shifts  </a:t>
            </a:r>
            <a:r>
              <a:rPr sz="900" b="1">
                <a:solidFill>
                  <a:srgbClr val="F0EEF8"/>
                </a:solidFill>
                <a:latin typeface="Segoe UI"/>
              </a:rPr>
              <a:t>[MEDIUM]</a:t>
            </a:r>
          </a:p>
          <a:p>
            <a:pPr>
              <a:spcAft>
                <a:spcPts val="200"/>
              </a:spcAft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Changes in auto retail regulation or data privacy laws may increase compliance burden</a:t>
            </a:r>
          </a:p>
          <a:p>
            <a:pPr>
              <a:spcAft>
                <a:spcPts val="100"/>
              </a:spcAft>
              <a:defRPr sz="900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Mitigation: Proactive compliance advisory cadence. Built-in audit controls from day one. Regulatory monitoring with 90-day lead-time for adaptation.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837176"/>
            <a:ext cx="11018520" cy="1097280"/>
          </a:xfrm>
          <a:prstGeom prst="roundRect">
            <a:avLst/>
          </a:prstGeom>
          <a:solidFill>
            <a:srgbClr val="121C2A"/>
          </a:solidFill>
          <a:ln w="11430">
            <a:solidFill>
              <a:srgbClr val="3C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0EEF8"/>
                </a:solidFill>
                <a:latin typeface="Segoe UI"/>
              </a:rPr>
              <a:t>Competitive Response  </a:t>
            </a:r>
            <a:r>
              <a:rPr sz="900" b="1">
                <a:solidFill>
                  <a:srgbClr val="F0EEF8"/>
                </a:solidFill>
                <a:latin typeface="Segoe UI"/>
              </a:rPr>
              <a:t>[LOW-MED]</a:t>
            </a:r>
          </a:p>
          <a:p>
            <a:pPr>
              <a:spcAft>
                <a:spcPts val="200"/>
              </a:spcAft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Incumbent DMS vendors may respond with pricing pressure or bundled marketplace features</a:t>
            </a:r>
          </a:p>
          <a:p>
            <a:pPr>
              <a:spcAft>
                <a:spcPts val="100"/>
              </a:spcAft>
              <a:defRPr sz="900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Mitigation: Differentiation through integration depth and measured outcome evidence. Integration moat grows with each customer, making displacement harder.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996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business &amp; investor package  •  Confidential — for qualified readers — for qualified readers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6172200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April 2026  | 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914400"/>
            <a:ext cx="5120640" cy="3017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8961120" y="4480560"/>
            <a:ext cx="3840480" cy="2743200"/>
          </a:xfrm>
          <a:prstGeom prst="ellipse">
            <a:avLst/>
          </a:prstGeom>
          <a:solidFill>
            <a:srgbClr val="47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94360" y="6099048"/>
            <a:ext cx="11002975" cy="18288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8E5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— INVESTOR &amp; PARTNER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"/>
            <a:ext cx="1100297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Pre-Seed Valuation &amp; Use of Funds</a:t>
            </a:r>
          </a:p>
          <a:p>
            <a:pPr>
              <a:defRPr sz="13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Capital allocation: tie every dollar to revenue quality, retention, and moat depth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78992"/>
            <a:ext cx="11002975" cy="9144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5029200" cy="182880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203200" bIns="203200" wrap="square"/>
          <a:lstStyle/>
          <a:p>
            <a:pPr algn="ctr">
              <a:defRPr sz="52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$5.5M</a:t>
            </a:r>
          </a:p>
          <a:p>
            <a:pPr algn="ctr">
              <a:defRPr sz="14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Pre-Money 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371600"/>
            <a:ext cx="5760720" cy="182880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52400" bIns="152400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69A9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VALUATION RATIONALE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Comparable pre-seed SaaS in vertical markets: $4-8M range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Premium segment positioning supports higher-end valuation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Two-product architecture (DMS + marketplace) increases TAM capture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Conservative model reduces execution risk premium</a:t>
            </a:r>
          </a:p>
          <a:p>
            <a:pPr>
              <a:spcAft>
                <a:spcPts val="200"/>
              </a:spcAft>
              <a:defRPr sz="9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Team domain expertise in luxury auto and enterprise SaaS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94360" y="3383280"/>
          <a:ext cx="411480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0" y="3383280"/>
            <a:ext cx="6583680" cy="77724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1600" rIns="101600" tIns="101600" bIns="101600" wrap="square"/>
          <a:lstStyle/>
          <a:p>
            <a:pPr algn="ctr">
              <a:spcAft>
                <a:spcPts val="200"/>
              </a:spcAft>
              <a:defRPr sz="800" b="1">
                <a:solidFill>
                  <a:srgbClr val="69A9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PRODUCT &amp; ENGINEERING — 45%</a:t>
            </a:r>
          </a:p>
          <a:p>
            <a:pPr>
              <a:spcAft>
                <a:spcPts val="0"/>
              </a:spcAft>
              <a:defRPr sz="7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Core platform reliability and performance hardening</a:t>
            </a:r>
          </a:p>
          <a:p>
            <a:pPr>
              <a:spcAft>
                <a:spcPts val="0"/>
              </a:spcAft>
              <a:defRPr sz="7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AI/ML pipeline for pricing and demand intelligence</a:t>
            </a:r>
          </a:p>
          <a:p>
            <a:pPr>
              <a:spcAft>
                <a:spcPts val="0"/>
              </a:spcAft>
              <a:defRPr sz="7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Marketplace transaction infrastructure</a:t>
            </a:r>
          </a:p>
          <a:p>
            <a:pPr>
              <a:spcAft>
                <a:spcPts val="0"/>
              </a:spcAft>
              <a:defRPr sz="7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Security, compliance, and audit 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224528"/>
            <a:ext cx="6583680" cy="77724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1600" rIns="101600" tIns="101600" bIns="101600" wrap="square"/>
          <a:lstStyle/>
          <a:p>
            <a:pPr algn="ctr">
              <a:spcAft>
                <a:spcPts val="200"/>
              </a:spcAft>
              <a:defRPr sz="8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GTM &amp; SALES — 30%</a:t>
            </a:r>
          </a:p>
          <a:p>
            <a:pPr>
              <a:spcAft>
                <a:spcPts val="0"/>
              </a:spcAft>
              <a:defRPr sz="7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Controlled pilot acquisition campaign ($2K test budget)</a:t>
            </a:r>
          </a:p>
          <a:p>
            <a:pPr>
              <a:spcAft>
                <a:spcPts val="0"/>
              </a:spcAft>
              <a:defRPr sz="7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Sales team hiring: 2 AEs focused on luxury dealers</a:t>
            </a:r>
          </a:p>
          <a:p>
            <a:pPr>
              <a:spcAft>
                <a:spcPts val="0"/>
              </a:spcAft>
              <a:defRPr sz="7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Content marketing and dealer partnership development</a:t>
            </a:r>
          </a:p>
          <a:p>
            <a:pPr>
              <a:spcAft>
                <a:spcPts val="0"/>
              </a:spcAft>
              <a:defRPr sz="7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Conference presence at NADA and luxury auto events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5065776"/>
            <a:ext cx="6583680" cy="77724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1600" rIns="101600" tIns="101600" bIns="101600" wrap="square"/>
          <a:lstStyle/>
          <a:p>
            <a:pPr algn="ctr">
              <a:spcAft>
                <a:spcPts val="200"/>
              </a:spcAft>
              <a:defRPr sz="8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OPS &amp; RESERVE — 25%</a:t>
            </a:r>
          </a:p>
          <a:p>
            <a:pPr>
              <a:spcAft>
                <a:spcPts val="0"/>
              </a:spcAft>
              <a:defRPr sz="7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Customer success and onboarding team (2 CSMs)</a:t>
            </a:r>
          </a:p>
          <a:p>
            <a:pPr>
              <a:spcAft>
                <a:spcPts val="0"/>
              </a:spcAft>
              <a:defRPr sz="7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Legal, compliance, and regulatory preparation</a:t>
            </a:r>
          </a:p>
          <a:p>
            <a:pPr>
              <a:spcAft>
                <a:spcPts val="0"/>
              </a:spcAft>
              <a:defRPr sz="7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12-month operating runway with conservative burn</a:t>
            </a:r>
          </a:p>
          <a:p>
            <a:pPr>
              <a:spcAft>
                <a:spcPts val="0"/>
              </a:spcAft>
              <a:defRPr sz="7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Emergency buffer for market timing flexibility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996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business &amp; investor package  •  Confidential — for qualified readers — for qualified readers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6172200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April 2026  | 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914400"/>
            <a:ext cx="5120640" cy="3017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8961120" y="4480560"/>
            <a:ext cx="3840480" cy="2743200"/>
          </a:xfrm>
          <a:prstGeom prst="ellipse">
            <a:avLst/>
          </a:prstGeom>
          <a:solidFill>
            <a:srgbClr val="47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94360" y="6099048"/>
            <a:ext cx="11002975" cy="18288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8E5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— INVESTOR &amp; PARTNER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"/>
            <a:ext cx="1100297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Launch &amp; Marketing Roadmap</a:t>
            </a:r>
          </a:p>
          <a:p>
            <a:pPr>
              <a:defRPr sz="13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Controlled execution with capital discipline at every 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78992"/>
            <a:ext cx="11002975" cy="9144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11018520" cy="1078992"/>
          </a:xfrm>
          <a:prstGeom prst="roundRect">
            <a:avLst/>
          </a:prstGeom>
          <a:solidFill>
            <a:srgbClr val="121C2A"/>
          </a:solidFill>
          <a:ln w="11430">
            <a:solidFill>
              <a:srgbClr val="3C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27000" bIns="127000" wrap="square"/>
          <a:lstStyle/>
          <a:p>
            <a:pPr algn="ctr">
              <a:spcAft>
                <a:spcPts val="300"/>
              </a:spcAft>
              <a:defRPr sz="1100" b="1">
                <a:solidFill>
                  <a:srgbClr val="F29B5D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IMMEDIATE — 72 Hours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Activate investor distribution package (this deck + data room)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Establish pilot pipeline ownership with 5 warm dealer intros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Launch KPI operating cadence: weekly metrics + monthly investor updates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Configure compliance and legal infrastructure for transactions</a:t>
            </a:r>
          </a:p>
          <a:p>
            <a:pPr>
              <a:defRPr sz="800" b="1">
                <a:solidFill>
                  <a:srgbClr val="F29B5D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→  Deliverable: Pipeline activated, governance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68880"/>
            <a:ext cx="11018520" cy="1078992"/>
          </a:xfrm>
          <a:prstGeom prst="roundRect">
            <a:avLst/>
          </a:prstGeom>
          <a:solidFill>
            <a:srgbClr val="121C2A"/>
          </a:solidFill>
          <a:ln w="11430">
            <a:solidFill>
              <a:srgbClr val="3C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27000" bIns="127000" wrap="square"/>
          <a:lstStyle/>
          <a:p>
            <a:pPr algn="ctr">
              <a:spcAft>
                <a:spcPts val="300"/>
              </a:spcAft>
              <a:defRPr sz="11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WEEKS 1–8 — Pilot Validation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Deploy controlled $2,000 digital acquisition test across 3 channels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Secure 18-25 qualified pilot dealers through warm outreach + events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Validate onboarding: target &lt;14 days from signed contract to live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Measure activation, retention, and NPS baselines from pilot cohort</a:t>
            </a:r>
          </a:p>
          <a:p>
            <a:pPr>
              <a:defRPr sz="8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→  Deliverable: 18+ pilots, validated CAC, activation &gt;85%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611880"/>
            <a:ext cx="11018520" cy="1078992"/>
          </a:xfrm>
          <a:prstGeom prst="roundRect">
            <a:avLst/>
          </a:prstGeom>
          <a:solidFill>
            <a:srgbClr val="121C2A"/>
          </a:solidFill>
          <a:ln w="11430">
            <a:solidFill>
              <a:srgbClr val="3C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27000" bIns="127000" wrap="square"/>
          <a:lstStyle/>
          <a:p>
            <a:pPr algn="ctr">
              <a:spcAft>
                <a:spcPts val="300"/>
              </a:spcAft>
              <a:defRPr sz="1100" b="1">
                <a:solidFill>
                  <a:srgbClr val="69A9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MONTHS 3–9 — Growth Phase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Scale to 420-580 dealers with repeatable channel acquisition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Deploy referral engine: target 25% of new dealers from referrals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Launch marketplace beta with premium listing and auction features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Build case studies from top-performing pilot dealers for collateral</a:t>
            </a:r>
          </a:p>
          <a:p>
            <a:pPr>
              <a:defRPr sz="800" b="1">
                <a:solidFill>
                  <a:srgbClr val="69A9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→  Deliverable: $9.8M ARR trajectory, marketplace live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754880"/>
            <a:ext cx="11018520" cy="1078992"/>
          </a:xfrm>
          <a:prstGeom prst="roundRect">
            <a:avLst/>
          </a:prstGeom>
          <a:solidFill>
            <a:srgbClr val="121C2A"/>
          </a:solidFill>
          <a:ln w="11430">
            <a:solidFill>
              <a:srgbClr val="3C52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27000" bIns="127000" wrap="square"/>
          <a:lstStyle/>
          <a:p>
            <a:pPr algn="ctr">
              <a:spcAft>
                <a:spcPts val="300"/>
              </a:spcAft>
              <a:defRPr sz="11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MONTHS 10–18 — Expansion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Enter enterprise tier with multi-rooftop group sales motion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Expand to 3-5 additional metro markets with validated playbook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Launch AI pricing intelligence as premium add-on module</a:t>
            </a:r>
          </a:p>
          <a:p>
            <a:pPr>
              <a:spcAft>
                <a:spcPts val="100"/>
              </a:spcAft>
              <a:defRPr sz="8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Prepare Series A readiness package with 12+ months metrics</a:t>
            </a:r>
          </a:p>
          <a:p>
            <a:pPr>
              <a:defRPr sz="8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→  Deliverable: Series A ready, $50M+ ARR run-rate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996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business &amp; investor package  •  Confidential — for qualified readers — for qualified readers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6172200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April 2026  | 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914400"/>
            <a:ext cx="5120640" cy="3017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8961120" y="4480560"/>
            <a:ext cx="3840480" cy="2743200"/>
          </a:xfrm>
          <a:prstGeom prst="ellipse">
            <a:avLst/>
          </a:prstGeom>
          <a:solidFill>
            <a:srgbClr val="47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94360" y="6099048"/>
            <a:ext cx="11002975" cy="18288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8E5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— INVESTOR &amp; PARTNER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"/>
            <a:ext cx="1100297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Path to $1B ARR</a:t>
            </a:r>
          </a:p>
          <a:p>
            <a:pPr>
              <a:defRPr sz="13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Each stage requires validated KPI thresholds before capital acceleration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78992"/>
            <a:ext cx="11002975" cy="9144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1371600"/>
          <a:ext cx="59436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766560" y="1371600"/>
            <a:ext cx="4846320" cy="82296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1600" rIns="101600" tIns="101600" bIns="101600" wrap="square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0EEF8"/>
                </a:solidFill>
                <a:latin typeface="Segoe UI"/>
              </a:rPr>
              <a:t>STAGE 1: PMF  </a:t>
            </a:r>
            <a:r>
              <a:rPr sz="800">
                <a:solidFill>
                  <a:srgbClr val="F0EEF8"/>
                </a:solidFill>
                <a:latin typeface="Segoe UI"/>
              </a:rPr>
              <a:t>(0–12 mo)</a:t>
            </a:r>
          </a:p>
          <a:p>
            <a:pPr>
              <a:spcAft>
                <a:spcPts val="0"/>
              </a:spcAft>
              <a:defRPr sz="7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Prove product-market fit with 15-25 anchor dealers</a:t>
            </a:r>
          </a:p>
          <a:p>
            <a:pPr>
              <a:spcAft>
                <a:spcPts val="0"/>
              </a:spcAft>
              <a:defRPr sz="7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Validate unit economics: CAC &lt;$8K, payback &lt;10mo</a:t>
            </a:r>
          </a:p>
          <a:p>
            <a:pPr>
              <a:spcAft>
                <a:spcPts val="0"/>
              </a:spcAft>
              <a:defRPr sz="7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Establish operational playbooks for repeatable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2258568"/>
            <a:ext cx="4846320" cy="82296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1600" rIns="101600" tIns="101600" bIns="101600" wrap="square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0EEF8"/>
                </a:solidFill>
                <a:latin typeface="Segoe UI"/>
              </a:rPr>
              <a:t>STAGE 2: REGIONAL  </a:t>
            </a:r>
            <a:r>
              <a:rPr sz="800">
                <a:solidFill>
                  <a:srgbClr val="F0EEF8"/>
                </a:solidFill>
                <a:latin typeface="Segoe UI"/>
              </a:rPr>
              <a:t>(12–24 mo)</a:t>
            </a:r>
          </a:p>
          <a:p>
            <a:pPr>
              <a:spcAft>
                <a:spcPts val="0"/>
              </a:spcAft>
              <a:defRPr sz="7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Scale to 400+ dealers across 5+ metro markets</a:t>
            </a:r>
          </a:p>
          <a:p>
            <a:pPr>
              <a:spcAft>
                <a:spcPts val="0"/>
              </a:spcAft>
              <a:defRPr sz="7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Launch full marketplace with buyer monetization</a:t>
            </a:r>
          </a:p>
          <a:p>
            <a:pPr>
              <a:spcAft>
                <a:spcPts val="0"/>
              </a:spcAft>
              <a:defRPr sz="7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Deploy enterprise tier for multi-rooftop groups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3145535"/>
            <a:ext cx="4846320" cy="82296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1600" rIns="101600" tIns="101600" bIns="101600" wrap="square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0EEF8"/>
                </a:solidFill>
                <a:latin typeface="Segoe UI"/>
              </a:rPr>
              <a:t>STAGE 3: NATIONAL  </a:t>
            </a:r>
            <a:r>
              <a:rPr sz="800">
                <a:solidFill>
                  <a:srgbClr val="F0EEF8"/>
                </a:solidFill>
                <a:latin typeface="Segoe UI"/>
              </a:rPr>
              <a:t>(24–48 mo)</a:t>
            </a:r>
          </a:p>
          <a:p>
            <a:pPr>
              <a:spcAft>
                <a:spcPts val="0"/>
              </a:spcAft>
              <a:defRPr sz="7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National coverage with 2,500+ dealer relationships</a:t>
            </a:r>
          </a:p>
          <a:p>
            <a:pPr>
              <a:spcAft>
                <a:spcPts val="0"/>
              </a:spcAft>
              <a:defRPr sz="7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AI services layer generating 15%+ of total revenue</a:t>
            </a:r>
          </a:p>
          <a:p>
            <a:pPr>
              <a:spcAft>
                <a:spcPts val="0"/>
              </a:spcAft>
              <a:defRPr sz="7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•  Adjacent premium verticals adding incremental TAM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206240"/>
            <a:ext cx="2176272" cy="96012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Dealer Growth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15 → 2,500+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4206240"/>
            <a:ext cx="2176272" cy="96012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ARPA Expansion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9A9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$10K → $58K/yr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4206240"/>
            <a:ext cx="2176272" cy="96012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Revenue Streams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1 → 3 Active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4206240"/>
            <a:ext cx="2176272" cy="96012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Market Expansion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F29B5D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2 → 15+ Markets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4206240"/>
            <a:ext cx="2176272" cy="96012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Adjacencies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0 → 3 Verticals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349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Key insight: 80% of $1B ARR driven by ARPA expansion and module adoption within existing accounts, not just new logos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1996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business &amp; investor package  •  Confidential — for qualified readers — for qualified readers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6172200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April 2026  | 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914400"/>
            <a:ext cx="5120640" cy="3017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8961120" y="4480560"/>
            <a:ext cx="3840480" cy="2743200"/>
          </a:xfrm>
          <a:prstGeom prst="ellipse">
            <a:avLst/>
          </a:prstGeom>
          <a:solidFill>
            <a:srgbClr val="47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94360" y="6099048"/>
            <a:ext cx="11002975" cy="18288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8E5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— INVESTOR &amp; PARTNER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"/>
            <a:ext cx="1100297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Recommendation &amp; Next Steps</a:t>
            </a:r>
          </a:p>
          <a:p>
            <a:pPr>
              <a:defRPr sz="13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Clear, measurable action plan with defined milestones and accountability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78992"/>
            <a:ext cx="11002975" cy="9144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8503920" cy="749808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/>
            <a:r>
              <a:rPr sz="1200" b="1">
                <a:solidFill>
                  <a:srgbClr val="F0EEF8"/>
                </a:solidFill>
                <a:latin typeface="Segoe UI"/>
              </a:rPr>
              <a:t>①  Launch Governance  </a:t>
            </a:r>
          </a:p>
          <a:p>
            <a:pPr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Establish weekly KPI operating cadence with milestone ownership, variance review, and investor reporting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1371600"/>
            <a:ext cx="2331720" cy="658368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Timeline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F29B5D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Week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148840"/>
            <a:ext cx="8503920" cy="749808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/>
            <a:r>
              <a:rPr sz="1200" b="1">
                <a:solidFill>
                  <a:srgbClr val="F0EEF8"/>
                </a:solidFill>
                <a:latin typeface="Segoe UI"/>
              </a:rPr>
              <a:t>②  Pilot Acquisition  </a:t>
            </a:r>
          </a:p>
          <a:p>
            <a:pPr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Execute controlled dealer acquisition with $2,000 digital test budget across LinkedIn, industry events, and warm referrals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2194560"/>
            <a:ext cx="2331720" cy="658368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Timeline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Weeks 1-4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971800"/>
            <a:ext cx="8503920" cy="749808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/>
            <a:r>
              <a:rPr sz="1200" b="1">
                <a:solidFill>
                  <a:srgbClr val="F0EEF8"/>
                </a:solidFill>
                <a:latin typeface="Segoe UI"/>
              </a:rPr>
              <a:t>③  Product Hardening  </a:t>
            </a:r>
          </a:p>
          <a:p>
            <a:pPr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Complete reliability sprint for core payroll and inventory modules; achieve 99.95% uptime baseline before pilot expansion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3017520"/>
            <a:ext cx="2331720" cy="658368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Timeline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9A9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Weeks 2-6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94760"/>
            <a:ext cx="8503920" cy="749808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/>
            <a:r>
              <a:rPr sz="1200" b="1">
                <a:solidFill>
                  <a:srgbClr val="F0EEF8"/>
                </a:solidFill>
                <a:latin typeface="Segoe UI"/>
              </a:rPr>
              <a:t>④  Investor Reporting  </a:t>
            </a:r>
          </a:p>
          <a:p>
            <a:pPr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Deliver monthly investor updates tied to activation rate, retention, NPS, ARR trajectory, and unit economics scorecard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3840480"/>
            <a:ext cx="2331720" cy="658368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Timeline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Monthly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617720"/>
            <a:ext cx="8503920" cy="749808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/>
            <a:r>
              <a:rPr sz="1200" b="1">
                <a:solidFill>
                  <a:srgbClr val="F0EEF8"/>
                </a:solidFill>
                <a:latin typeface="Segoe UI"/>
              </a:rPr>
              <a:t>⑤  Series A Prep  </a:t>
            </a:r>
          </a:p>
          <a:p>
            <a:pPr>
              <a:defRPr sz="9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Build readiness package with 12+ months of cohort data, case studies, and validated growth model for next financing round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4663440"/>
            <a:ext cx="2331720" cy="658368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Timeline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Month 6+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440680"/>
            <a:ext cx="2743200" cy="50292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Launch Window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NOW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47288" y="5440680"/>
            <a:ext cx="2743200" cy="50292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Pilot Budget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$2,000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0216" y="5440680"/>
            <a:ext cx="2743200" cy="50292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Initial Target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9A9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18-25 Dealers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3144" y="5440680"/>
            <a:ext cx="2743200" cy="50292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First Milestone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$9.8M ARR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996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business &amp; investor package  •  Confidential — for qualified readers — for qualified readers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6172200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April 2026  | 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914400"/>
            <a:ext cx="5120640" cy="3017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8961120" y="4480560"/>
            <a:ext cx="3840480" cy="2743200"/>
          </a:xfrm>
          <a:prstGeom prst="ellipse">
            <a:avLst/>
          </a:prstGeom>
          <a:solidFill>
            <a:srgbClr val="472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9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94360" y="6099048"/>
            <a:ext cx="11002975" cy="18288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3840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8E5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— INVESTOR &amp; PARTNER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"/>
            <a:ext cx="11002975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78992"/>
            <a:ext cx="11002975" cy="9144"/>
          </a:xfrm>
          <a:prstGeom prst="rect">
            <a:avLst/>
          </a:prstGeom>
          <a:solidFill>
            <a:srgbClr val="2C4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0EEF8"/>
                </a:solidFill>
                <a:latin typeface="Segoe U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1371600" y="1371600"/>
            <a:ext cx="9418320" cy="274320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 rIns="304800" tIns="304800" bIns="304800" wrap="square"/>
          <a:lstStyle/>
          <a:p>
            <a:pPr algn="ctr">
              <a:defRPr sz="36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— Vortex Exotic Exchange</a:t>
            </a:r>
          </a:p>
          <a:p>
            <a:pPr algn="ctr">
              <a:spcBef>
                <a:spcPts val="1000"/>
              </a:spcBef>
              <a:defRPr sz="1400">
                <a:solidFill>
                  <a:srgbClr val="EBF1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Built for disciplined scale: measurable outcomes, resilient revenue quality, and governance-first execution.</a:t>
            </a:r>
          </a:p>
          <a:p>
            <a:pPr algn="ctr">
              <a:spcBef>
                <a:spcPts val="800"/>
              </a:spcBef>
              <a:defRPr sz="11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We believe the luxury automotive market deserves integrated infrastructure that compounds value for dealers, buyers, and investors alike.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89120"/>
            <a:ext cx="2606040" cy="8686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Pre-Money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E8B963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$5.5M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7872" y="4389120"/>
            <a:ext cx="2606040" cy="8686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Year 1 Target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F29B5D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$9.8M ARR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3" y="4389120"/>
            <a:ext cx="2606040" cy="8686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Year 5 Target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AD3B2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$1.45B ARR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7696" y="4389120"/>
            <a:ext cx="2606040" cy="868680"/>
          </a:xfrm>
          <a:prstGeom prst="roundRect">
            <a:avLst/>
          </a:prstGeom>
          <a:solidFill>
            <a:srgbClr val="161624"/>
          </a:solidFill>
          <a:ln w="11430">
            <a:solidFill>
              <a:srgbClr val="4C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27000" bIns="127000" wrap="square"/>
          <a:lstStyle/>
          <a:p>
            <a:pPr algn="ctr">
              <a:spcAft>
                <a:spcPts val="400"/>
              </a:spcAft>
              <a:defRPr sz="900" b="1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Model</a:t>
            </a:r>
          </a:p>
          <a:p>
            <a:pPr algn="ctr">
              <a:spcBef>
                <a:spcPts val="200"/>
              </a:spcBef>
              <a:defRPr sz="2200" b="1">
                <a:solidFill>
                  <a:srgbClr val="69A9FF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SaaS + Marketplace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4864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Contact: Chase Cavin  |  VEX - Vortex Exotic Exchange  |  Confidential — for qualified readers — for qualified readers - Not for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19963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VEX business &amp; investor package  •  Confidential — for qualified readers — for qualified readers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6172200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7B6CC"/>
                </a:solidFill>
                <a:latin typeface="Liberation Sans"/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April 2026  |  18/18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800">
                <a:solidFill>
                  <a:srgbClr val="F0EEF8"/>
                </a:solidFill>
                <a:latin typeface="Segoe UI"/>
              </a:rPr>
              <a:t>Financial overview &amp; optional forecasts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olidFill>
                  <a:srgbClr val="F0EEF8"/>
                </a:solidFill>
                <a:latin typeface="Segoe UI"/>
              </a:rPr>
              <a:t>Source-backed pricing · Illustrative scenarios (finance to validate)</a:t>
            </a:r>
          </a:p>
          <a:p>
            <a:r>
              <a:rPr>
                <a:solidFill>
                  <a:srgbClr val="F0EEF8"/>
                </a:solidFill>
                <a:latin typeface="Segoe UI"/>
              </a:rPr>
              <a:t>List prices: product API (apps/api/src/routes/pricing.ts).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800">
                <a:solidFill>
                  <a:srgbClr val="F0EEF8"/>
                </a:solidFill>
                <a:latin typeface="Segoe UI"/>
              </a:rPr>
              <a:t>Subscription list prices (monthly) — from the live product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2344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619963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rPr sz="900">
                <a:solidFill>
                  <a:srgbClr val="A8A4BC"/>
                </a:solidFill>
                <a:latin typeface="Segoe UI"/>
              </a:rPr>
              <a:t>List prices match the live product catalog (see pricing.ts in source).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800">
                <a:solidFill>
                  <a:srgbClr val="F0EEF8"/>
                </a:solidFill>
                <a:latin typeface="Segoe UI"/>
              </a:rPr>
              <a:t>Subscription list prices (yearly) — from the live product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2344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619963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rPr sz="900">
                <a:solidFill>
                  <a:srgbClr val="A8A4BC"/>
                </a:solidFill>
                <a:latin typeface="Segoe UI"/>
              </a:rPr>
              <a:t>List prices match the live product catalog (see pricing.ts in source).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800">
                <a:solidFill>
                  <a:srgbClr val="F0EEF8"/>
                </a:solidFill>
                <a:latin typeface="Segoe UI"/>
              </a:rPr>
              <a:t>Savings: yearly plan vs twelve monthly payments (list price)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2344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619963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rPr sz="900">
                <a:solidFill>
                  <a:srgbClr val="A8A4BC"/>
                </a:solidFill>
                <a:latin typeface="Segoe UI"/>
              </a:rPr>
              <a:t>Shows list-price comparison; actual charges follow your Stripe price IDs.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800">
                <a:solidFill>
                  <a:srgbClr val="F0EEF8"/>
                </a:solidFill>
                <a:latin typeface="Segoe UI"/>
              </a:rPr>
              <a:t>Sample revenue paths ($M): cautious · middle · strong (illustration only)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2344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61447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rPr sz="900">
                <a:solidFill>
                  <a:srgbClr val="A8A4BC"/>
                </a:solidFill>
                <a:latin typeface="Segoe UI"/>
              </a:rPr>
              <a:t>Illustration only — replace with finance- and Stripe-backed figures before external use.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800">
                <a:solidFill>
                  <a:srgbClr val="F0EEF8"/>
                </a:solidFill>
                <a:latin typeface="Segoe UI"/>
              </a:rPr>
              <a:t>Sample fifth-year recurring revenue by scenario ($M) — illustration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2344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61447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rPr sz="900">
                <a:solidFill>
                  <a:srgbClr val="A8A4BC"/>
                </a:solidFill>
                <a:latin typeface="Segoe UI"/>
              </a:rPr>
              <a:t>Illustration only — replace with finance- and Stripe-backed figures before external use.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800">
                <a:solidFill>
                  <a:srgbClr val="F0EEF8"/>
                </a:solidFill>
                <a:latin typeface="Segoe UI"/>
              </a:rPr>
              <a:t>Sample revenue mix — fifth year, middle scenario (illustration)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2344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61447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rPr sz="900">
                <a:solidFill>
                  <a:srgbClr val="A8A4BC"/>
                </a:solidFill>
                <a:latin typeface="Segoe UI"/>
              </a:rPr>
              <a:t>Illustration only — replace with finance- and Stripe-backed figures before external use. Percentages are planning placeholders.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800">
                <a:solidFill>
                  <a:srgbClr val="F0EEF8"/>
                </a:solidFill>
                <a:latin typeface="Segoe UI"/>
              </a:rPr>
              <a:t>Sample revenue build ($M) — stacked illustration (ARR-style view)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2344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610819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rPr sz="900">
                <a:solidFill>
                  <a:srgbClr val="A8A4BC"/>
                </a:solidFill>
                <a:latin typeface="Segoe UI"/>
              </a:rPr>
              <a:t>Illustration only — replace with finance- and Stripe-backed figures before external use. Pre-uplift components; not GAAP.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800">
                <a:solidFill>
                  <a:srgbClr val="F0EEF8"/>
                </a:solidFill>
                <a:latin typeface="Segoe UI"/>
              </a:rPr>
              <a:t>Sample operating result ($M, EBITDA-style) — middle scenario, illustration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2344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61447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rPr sz="900">
                <a:solidFill>
                  <a:srgbClr val="A8A4BC"/>
                </a:solidFill>
                <a:latin typeface="Segoe UI"/>
              </a:rPr>
              <a:t>Illustration only — replace with finance- and Stripe-backed figures before external use.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800">
                <a:solidFill>
                  <a:srgbClr val="F0EEF8"/>
                </a:solidFill>
                <a:latin typeface="Segoe UI"/>
              </a:rPr>
              <a:t>Sample operating cost mix (% of revenue) — illustration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2344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61447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rPr>
                <a:solidFill>
                  <a:srgbClr val="F0EEF8"/>
                </a:solidFill>
                <a:latin typeface="Segoe UI"/>
              </a:rPr>
              <a:t>Planning illustration only — not actual cost accounting.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800">
                <a:solidFill>
                  <a:srgbClr val="F0EEF8"/>
                </a:solidFill>
                <a:latin typeface="Segoe UI"/>
              </a:rPr>
              <a:t>Sample sensitivity — fifth-year revenue vs average revenue per account (illustration)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2344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61447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rPr sz="900">
                <a:solidFill>
                  <a:srgbClr val="A8A4BC"/>
                </a:solidFill>
                <a:latin typeface="Segoe UI"/>
              </a:rPr>
              <a:t>Illustration only — replace with finance- and Stripe-backed figures before external use.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800">
                <a:solidFill>
                  <a:srgbClr val="F0EEF8"/>
                </a:solidFill>
                <a:latin typeface="Segoe UI"/>
              </a:rPr>
              <a:t>Sample monthly subscription revenue walkthrough — layout template (illustration)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2344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610819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rPr sz="900">
                <a:solidFill>
                  <a:srgbClr val="A8A4BC"/>
                </a:solidFill>
                <a:latin typeface="Segoe UI"/>
              </a:rPr>
              <a:t>Illustration only — replace with finance- and Stripe-backed figures before external use. Numeric example for chart style only.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800">
                <a:solidFill>
                  <a:srgbClr val="F0EEF8"/>
                </a:solidFill>
                <a:latin typeface="Segoe UI"/>
              </a:rPr>
              <a:t>Sample growth index (Year 1 = 100) — illustration, not actual performance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2344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614476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rPr sz="900">
                <a:solidFill>
                  <a:srgbClr val="A8A4BC"/>
                </a:solidFill>
                <a:latin typeface="Segoe UI"/>
              </a:rPr>
              <a:t>Illustration only — replace with finance- and Stripe-backed figures before external use. Indexed shape for narrative only.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800">
                <a:solidFill>
                  <a:srgbClr val="F0EEF8"/>
                </a:solidFill>
                <a:latin typeface="Segoe UI"/>
              </a:rPr>
              <a:t>Financial charts — what is real, what to replace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0EEF8"/>
                </a:solidFill>
                <a:latin typeface="Segoe UI"/>
              </a:rPr>
              <a:t>REAL (keep): Monthly $49 / $149 / $299 and yearly $470 / $1,430 / $2,870 — these match the default plan table in the live product (pricing API).</a:t>
            </a:r>
          </a:p>
          <a:p>
            <a:pPr/>
            <a:r>
              <a:rPr>
                <a:solidFill>
                  <a:srgbClr val="F0EEF8"/>
                </a:solidFill>
                <a:latin typeface="Segoe UI"/>
              </a:rPr>
              <a:t>ILLUSTRATION (refresh or delete): Curves, pies, stacked bars, EBITDA, sensitivity — drop in your finance model or remove before banks / press.</a:t>
            </a:r>
          </a:p>
          <a:p>
            <a:pPr/>
            <a:r>
              <a:rPr>
                <a:solidFill>
                  <a:srgbClr val="F0EEF8"/>
                </a:solidFill>
                <a:latin typeface="Segoe UI"/>
              </a:rPr>
              <a:t>LIVE DATA: Dealer metrics and pilot rollups come from the running platform (capital and pilot dashboards — ask your VEX contact).</a:t>
            </a:r>
          </a:p>
          <a:p>
            <a:pPr/>
            <a:r>
              <a:rPr>
                <a:solidFill>
                  <a:srgbClr val="F0EEF8"/>
                </a:solidFill>
                <a:latin typeface="Segoe UI"/>
              </a:rPr>
              <a:t>BEFORE YOU SEND: Finance signs off on every dollar; Stripe is truth if it differs from list.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